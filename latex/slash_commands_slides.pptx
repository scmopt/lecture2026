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yoshidumi.co.jp/collaboration-lab/antigravity2.0-ide-cli" TargetMode="External"/><Relationship Id="rId2" Type="http://schemas.openxmlformats.org/officeDocument/2006/relationships/hyperlink" Target="https://codilime.com/blog/model-context-protocol-explained/" TargetMode="External"/><Relationship Id="rId3" Type="http://schemas.openxmlformats.org/officeDocument/2006/relationships/hyperlink" Target="https://modelcontextprotocol.info/docs/concepts/prompts/" TargetMode="External"/><Relationship Id="rId4" Type="http://schemas.openxmlformats.org/officeDocument/2006/relationships/hyperlink" Target="https://zenn.dev/oikon/articles/cb11b84f891228" TargetMode="External"/><Relationship Id="rId5" Type="http://schemas.openxmlformats.org/officeDocument/2006/relationships/hyperlink" Target="https://azukiazusa.dev/blog/claude-code-custom-slash-command/" TargetMode="External"/><Relationship Id="rId6" Type="http://schemas.openxmlformats.org/officeDocument/2006/relationships/hyperlink" Target="https://antigravity.google/docs/slash-commands/" TargetMode="External"/><Relationship Id="rId7" Type="http://schemas.openxmlformats.org/officeDocument/2006/relationships/hyperlink" Target="https://uravation.com/media/claude-code-slash-command-custom-extension-team-share-2026/" TargetMode="External"/><Relationship Id="rId8" Type="http://schemas.openxmlformats.org/officeDocument/2006/relationships/hyperlink" Target="https://medium.com/@aserdargun/model-context-protocol-mcp-e453b47cf254" TargetMode="External"/><Relationship Id="rId9" Type="http://schemas.openxmlformats.org/officeDocument/2006/relationships/hyperlink" Target="https://tianpan.co/blog/2026/04/19/over-tooled-agent-problem" TargetMode="External"/><Relationship Id="rId10" Type="http://schemas.openxmlformats.org/officeDocument/2006/relationships/hyperlink" Target="https://nektony.com/reviews/claude-code-vs-codex-cli-vs-antigravity-cli" TargetMode="External"/><Relationship Id="rId11" Type="http://schemas.openxmlformats.org/officeDocument/2006/relationships/hyperlink" Target="https://www.bdtechjobs.com/blog/claude-code-vs-cursor-vs-codex-vs-antigravity" TargetMode="External"/><Relationship Id="rId12" Type="http://schemas.openxmlformats.org/officeDocument/2006/relationships/hyperlink" Target="https://cloud-ace.jp/column/detail558/" TargetMode="External"/><Relationship Id="rId13" Type="http://schemas.openxmlformats.org/officeDocument/2006/relationships/hyperlink" Target="https://www.datarobot.com/blog/datarobot-for-developers-integrating-with-the-google-antigravity-cli/" TargetMode="External"/><Relationship Id="rId14" Type="http://schemas.openxmlformats.org/officeDocument/2006/relationships/hyperlink" Target="https://antigravity.google/docs/cli/overview/" TargetMode="External"/><Relationship Id="rId15" Type="http://schemas.openxmlformats.org/officeDocument/2006/relationships/hyperlink" Target="https://antigravity.google/docs/cli/features/" TargetMode="External"/><Relationship Id="rId16" Type="http://schemas.openxmlformats.org/officeDocument/2006/relationships/slideLayout" Target="../slideLayouts/slideLayout1.xml"/><Relationship Id="rId1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ntigravity.google/docs/cli/commands/title/" TargetMode="External"/><Relationship Id="rId2" Type="http://schemas.openxmlformats.org/officeDocument/2006/relationships/hyperlink" Target="https://antigravity.google/docs/cli/commands/voice/" TargetMode="External"/><Relationship Id="rId3" Type="http://schemas.openxmlformats.org/officeDocument/2006/relationships/hyperlink" Target="https://cloud.google.com/blog/topics/developers-practitioners/gemini-cli-custom-slash-commands" TargetMode="External"/><Relationship Id="rId4" Type="http://schemas.openxmlformats.org/officeDocument/2006/relationships/hyperlink" Target="https://note.com/daybreak_diary/n/n754b58ed422f" TargetMode="External"/><Relationship Id="rId5" Type="http://schemas.openxmlformats.org/officeDocument/2006/relationships/hyperlink" Target="https://uravation.com/media/codex-cli-complete-reference-2026/" TargetMode="External"/><Relationship Id="rId6" Type="http://schemas.openxmlformats.org/officeDocument/2006/relationships/hyperlink" Target="https://cheatsheets.zip/codex-cli" TargetMode="External"/><Relationship Id="rId7" Type="http://schemas.openxmlformats.org/officeDocument/2006/relationships/hyperlink" Target="https://github.com/jqueryscript/codex-commands-cheat-sheet/blob/main/README.md" TargetMode="External"/><Relationship Id="rId8" Type="http://schemas.openxmlformats.org/officeDocument/2006/relationships/hyperlink" Target="https://blakecrosley.com/blog/agents-md-patterns" TargetMode="External"/><Relationship Id="rId9" Type="http://schemas.openxmlformats.org/officeDocument/2006/relationships/hyperlink" Target="https://learn.chatgpt.com/docs/agent-configuration/agents-md" TargetMode="External"/><Relationship Id="rId10" Type="http://schemas.openxmlformats.org/officeDocument/2006/relationships/hyperlink" Target="https://www.playpark.co.jp/blog/claude-code-vs-codex-comparison" TargetMode="External"/><Relationship Id="rId11" Type="http://schemas.openxmlformats.org/officeDocument/2006/relationships/hyperlink" Target="https://www.reddit.com/r/codex/comments/1s1btfx/codex_vs_claude_code_vs_antigravity_whats_your/" TargetMode="External"/><Relationship Id="rId12" Type="http://schemas.openxmlformats.org/officeDocument/2006/relationships/hyperlink" Target="https://www.truefoundry.com/blog/claude-code-prompt-injection" TargetMode="External"/><Relationship Id="rId13" Type="http://schemas.openxmlformats.org/officeDocument/2006/relationships/hyperlink" Target="https://tao-hpu.medium.com/agent-security-boundaries-from-prompt-injection-to-tool-misuse-d25b6dbaad60" TargetMode="External"/><Relationship Id="rId14" Type="http://schemas.openxmlformats.org/officeDocument/2006/relationships/hyperlink" Target="https://arxiv.org/html/2509.22040v2" TargetMode="External"/><Relationship Id="rId15" Type="http://schemas.openxmlformats.org/officeDocument/2006/relationships/hyperlink" Target="https://adversa.ai/blog/opensource-ai-coding-agents-shell-injection-vulnerability/" TargetMode="External"/><Relationship Id="rId16" Type="http://schemas.openxmlformats.org/officeDocument/2006/relationships/slideLayout" Target="../slideLayouts/slideLayout1.xml"/><Relationship Id="rId17"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6"/>
        </a:solidFill>
      </p:bgPr>
    </p:bg>
    <p:spTree>
      <p:nvGrpSpPr>
        <p:cNvPr id="1" name=""/>
        <p:cNvGrpSpPr/>
        <p:nvPr/>
      </p:nvGrpSpPr>
      <p:grpSpPr>
        <a:xfrm>
          <a:off x="0" y="0"/>
          <a:ext cx="0" cy="0"/>
          <a:chOff x="0" y="0"/>
          <a:chExt cx="0" cy="0"/>
        </a:xfrm>
      </p:grpSpPr>
      <p:sp>
        <p:nvSpPr>
          <p:cNvPr id="2" name="Shape 0"/>
          <p:cNvSpPr/>
          <p:nvPr/>
        </p:nvSpPr>
        <p:spPr>
          <a:xfrm>
            <a:off x="640080" y="685800"/>
            <a:ext cx="3291840" cy="502920"/>
          </a:xfrm>
          <a:prstGeom prst="roundRect">
            <a:avLst>
              <a:gd name="adj" fmla="val 18182"/>
            </a:avLst>
          </a:prstGeom>
          <a:solidFill>
            <a:srgbClr val="232A38"/>
          </a:solidFill>
          <a:ln w="12700">
            <a:solidFill>
              <a:srgbClr val="232A38"/>
            </a:solidFill>
            <a:prstDash val="solid"/>
          </a:ln>
        </p:spPr>
      </p:sp>
      <p:sp>
        <p:nvSpPr>
          <p:cNvPr id="3" name="Text 1"/>
          <p:cNvSpPr txBox="1"/>
          <p:nvPr/>
        </p:nvSpPr>
        <p:spPr>
          <a:xfrm>
            <a:off x="822960" y="685800"/>
            <a:ext cx="3017520" cy="502920"/>
          </a:xfrm>
          <a:prstGeom prst="rect">
            <a:avLst/>
          </a:prstGeom>
          <a:noFill/>
          <a:ln/>
        </p:spPr>
        <p:txBody>
          <a:bodyPr wrap="square" lIns="0" tIns="0" rIns="0" bIns="0" rtlCol="0" anchor="ctr"/>
          <a:lstStyle/>
          <a:p>
            <a:pPr indent="0" marL="0">
              <a:buNone/>
            </a:pPr>
            <a:r>
              <a:rPr lang="en-US" sz="1600" dirty="0">
                <a:solidFill>
                  <a:srgbClr val="7F8AA3"/>
                </a:solidFill>
                <a:latin typeface="Courier New" pitchFamily="34" charset="0"/>
                <a:ea typeface="Courier New" pitchFamily="34" charset="-122"/>
                <a:cs typeface="Courier New" pitchFamily="34" charset="-120"/>
              </a:rPr>
              <a:t>&gt; </a:t>
            </a:r>
            <a:pPr indent="0" marL="0">
              <a:buNone/>
            </a:pPr>
            <a:r>
              <a:rPr lang="en-US" sz="1600" b="1" dirty="0">
                <a:solidFill>
                  <a:srgbClr val="F2A93B"/>
                </a:solidFill>
                <a:latin typeface="Courier New" pitchFamily="34" charset="0"/>
                <a:ea typeface="Courier New" pitchFamily="34" charset="-122"/>
                <a:cs typeface="Courier New" pitchFamily="34" charset="-120"/>
              </a:rPr>
              <a:t>/compare</a:t>
            </a:r>
            <a:pPr indent="0" marL="0">
              <a:buNone/>
            </a:pPr>
            <a:r>
              <a:rPr lang="en-US" sz="1600" dirty="0">
                <a:solidFill>
                  <a:srgbClr val="FFFFFF"/>
                </a:solidFill>
                <a:latin typeface="Courier New" pitchFamily="34" charset="0"/>
                <a:ea typeface="Courier New" pitchFamily="34" charset="-122"/>
                <a:cs typeface="Courier New" pitchFamily="34" charset="-120"/>
              </a:rPr>
              <a:t> agents</a:t>
            </a:r>
            <a:endParaRPr lang="en-US" sz="1600" dirty="0"/>
          </a:p>
        </p:txBody>
      </p:sp>
      <p:sp>
        <p:nvSpPr>
          <p:cNvPr id="4" name="Text 2"/>
          <p:cNvSpPr txBox="1"/>
          <p:nvPr/>
        </p:nvSpPr>
        <p:spPr>
          <a:xfrm>
            <a:off x="640080" y="1554480"/>
            <a:ext cx="7863840" cy="1371600"/>
          </a:xfrm>
          <a:prstGeom prst="rect">
            <a:avLst/>
          </a:prstGeom>
          <a:noFill/>
          <a:ln/>
        </p:spPr>
        <p:txBody>
          <a:bodyPr wrap="square" lIns="0" tIns="0" rIns="0" bIns="0" rtlCol="0" anchor="ctr"/>
          <a:lstStyle/>
          <a:p>
            <a:pPr indent="0" marL="0">
              <a:buNone/>
            </a:pPr>
            <a:r>
              <a:rPr lang="en-US" sz="2800" b="1" dirty="0">
                <a:solidFill>
                  <a:srgbClr val="FFFFFF"/>
                </a:solidFill>
                <a:latin typeface="Yu Gothic" pitchFamily="34" charset="0"/>
                <a:ea typeface="Yu Gothic" pitchFamily="34" charset="-122"/>
                <a:cs typeface="Yu Gothic" pitchFamily="34" charset="-120"/>
              </a:rPr>
              <a:t>主要AI開発エージェントのアーキテクチャと</a:t>
            </a:r>
            <a:endParaRPr lang="en-US" sz="2800" dirty="0"/>
          </a:p>
          <a:p>
            <a:pPr indent="0" marL="0">
              <a:buNone/>
            </a:pPr>
            <a:r>
              <a:rPr lang="en-US" sz="2800" b="1" dirty="0">
                <a:solidFill>
                  <a:srgbClr val="FFFFFF"/>
                </a:solidFill>
                <a:latin typeface="Yu Gothic" pitchFamily="34" charset="0"/>
                <a:ea typeface="Yu Gothic" pitchFamily="34" charset="-122"/>
                <a:cs typeface="Yu Gothic" pitchFamily="34" charset="-120"/>
              </a:rPr>
              <a:t>Slash Commandsの徹底解剖</a:t>
            </a:r>
            <a:endParaRPr lang="en-US" sz="2800" dirty="0"/>
          </a:p>
        </p:txBody>
      </p:sp>
      <p:sp>
        <p:nvSpPr>
          <p:cNvPr id="5" name="Text 3"/>
          <p:cNvSpPr txBox="1"/>
          <p:nvPr/>
        </p:nvSpPr>
        <p:spPr>
          <a:xfrm>
            <a:off x="640080" y="3017520"/>
            <a:ext cx="7863840" cy="411480"/>
          </a:xfrm>
          <a:prstGeom prst="rect">
            <a:avLst/>
          </a:prstGeom>
          <a:noFill/>
          <a:ln/>
        </p:spPr>
        <p:txBody>
          <a:bodyPr wrap="square" lIns="0" tIns="0" rIns="0" bIns="0" rtlCol="0" anchor="t"/>
          <a:lstStyle/>
          <a:p>
            <a:pPr indent="0" marL="0">
              <a:buNone/>
            </a:pPr>
            <a:r>
              <a:rPr lang="en-US" sz="1800" dirty="0">
                <a:solidFill>
                  <a:srgbClr val="C9D0DD"/>
                </a:solidFill>
                <a:latin typeface="Yu Gothic" pitchFamily="34" charset="0"/>
                <a:ea typeface="Yu Gothic" pitchFamily="34" charset="-122"/>
                <a:cs typeface="Yu Gothic" pitchFamily="34" charset="-120"/>
              </a:rPr>
              <a:t>Antigravity、Claude Code、Codexの比較分析</a:t>
            </a:r>
            <a:endParaRPr lang="en-US" sz="1800" dirty="0"/>
          </a:p>
        </p:txBody>
      </p:sp>
      <p:sp>
        <p:nvSpPr>
          <p:cNvPr id="6" name="Shape 4"/>
          <p:cNvSpPr/>
          <p:nvPr/>
        </p:nvSpPr>
        <p:spPr>
          <a:xfrm>
            <a:off x="640080" y="3931920"/>
            <a:ext cx="1554480" cy="329184"/>
          </a:xfrm>
          <a:prstGeom prst="roundRect">
            <a:avLst>
              <a:gd name="adj" fmla="val 22222"/>
            </a:avLst>
          </a:prstGeom>
          <a:solidFill>
            <a:srgbClr val="3A78E8"/>
          </a:solidFill>
          <a:ln w="12700">
            <a:solidFill>
              <a:srgbClr val="3A78E8"/>
            </a:solidFill>
            <a:prstDash val="solid"/>
          </a:ln>
        </p:spPr>
      </p:sp>
      <p:sp>
        <p:nvSpPr>
          <p:cNvPr id="7" name="Text 5"/>
          <p:cNvSpPr txBox="1"/>
          <p:nvPr/>
        </p:nvSpPr>
        <p:spPr>
          <a:xfrm>
            <a:off x="640080" y="3931920"/>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Antigravity</a:t>
            </a:r>
            <a:endParaRPr lang="en-US" sz="1200" dirty="0"/>
          </a:p>
        </p:txBody>
      </p:sp>
      <p:sp>
        <p:nvSpPr>
          <p:cNvPr id="8" name="Shape 6"/>
          <p:cNvSpPr/>
          <p:nvPr/>
        </p:nvSpPr>
        <p:spPr>
          <a:xfrm>
            <a:off x="2331720" y="3931920"/>
            <a:ext cx="1554480" cy="329184"/>
          </a:xfrm>
          <a:prstGeom prst="roundRect">
            <a:avLst>
              <a:gd name="adj" fmla="val 22222"/>
            </a:avLst>
          </a:prstGeom>
          <a:solidFill>
            <a:srgbClr val="C96442"/>
          </a:solidFill>
          <a:ln w="12700">
            <a:solidFill>
              <a:srgbClr val="C96442"/>
            </a:solidFill>
            <a:prstDash val="solid"/>
          </a:ln>
        </p:spPr>
      </p:sp>
      <p:sp>
        <p:nvSpPr>
          <p:cNvPr id="9" name="Text 7"/>
          <p:cNvSpPr txBox="1"/>
          <p:nvPr/>
        </p:nvSpPr>
        <p:spPr>
          <a:xfrm>
            <a:off x="2331720" y="3931920"/>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Claude Code</a:t>
            </a:r>
            <a:endParaRPr lang="en-US" sz="1200" dirty="0"/>
          </a:p>
        </p:txBody>
      </p:sp>
      <p:sp>
        <p:nvSpPr>
          <p:cNvPr id="10" name="Shape 8"/>
          <p:cNvSpPr/>
          <p:nvPr/>
        </p:nvSpPr>
        <p:spPr>
          <a:xfrm>
            <a:off x="4023360" y="3931920"/>
            <a:ext cx="1554480" cy="329184"/>
          </a:xfrm>
          <a:prstGeom prst="roundRect">
            <a:avLst>
              <a:gd name="adj" fmla="val 22222"/>
            </a:avLst>
          </a:prstGeom>
          <a:solidFill>
            <a:srgbClr val="0E9F7A"/>
          </a:solidFill>
          <a:ln w="12700">
            <a:solidFill>
              <a:srgbClr val="0E9F7A"/>
            </a:solidFill>
            <a:prstDash val="solid"/>
          </a:ln>
        </p:spPr>
      </p:sp>
      <p:sp>
        <p:nvSpPr>
          <p:cNvPr id="11" name="Text 9"/>
          <p:cNvSpPr txBox="1"/>
          <p:nvPr/>
        </p:nvSpPr>
        <p:spPr>
          <a:xfrm>
            <a:off x="4023360" y="3931920"/>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Codex CLI</a:t>
            </a:r>
            <a:endParaRPr lang="en-US" sz="1200" dirty="0"/>
          </a:p>
        </p:txBody>
      </p:sp>
      <p:sp>
        <p:nvSpPr>
          <p:cNvPr id="12" name="Text 10"/>
          <p:cNvSpPr txBox="1"/>
          <p:nvPr/>
        </p:nvSpPr>
        <p:spPr>
          <a:xfrm>
            <a:off x="6675120" y="3931920"/>
            <a:ext cx="1828800" cy="329184"/>
          </a:xfrm>
          <a:prstGeom prst="rect">
            <a:avLst/>
          </a:prstGeom>
          <a:noFill/>
          <a:ln/>
        </p:spPr>
        <p:txBody>
          <a:bodyPr wrap="square" lIns="0" tIns="0" rIns="0" bIns="0" rtlCol="0" anchor="ctr"/>
          <a:lstStyle/>
          <a:p>
            <a:pPr algn="r" indent="0" marL="0">
              <a:buNone/>
            </a:pPr>
            <a:r>
              <a:rPr lang="en-US" sz="1300" dirty="0">
                <a:solidFill>
                  <a:srgbClr val="AEB6C6"/>
                </a:solidFill>
                <a:latin typeface="Yu Gothic" pitchFamily="34" charset="0"/>
                <a:ea typeface="Yu Gothic" pitchFamily="34" charset="-122"/>
                <a:cs typeface="Yu Gothic" pitchFamily="34" charset="-120"/>
              </a:rPr>
              <a:t>2026年9月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目次</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a:t>
            </a:r>
            <a:endParaRPr lang="en-US" sz="800" dirty="0"/>
          </a:p>
        </p:txBody>
      </p:sp>
      <p:sp>
        <p:nvSpPr>
          <p:cNvPr id="5" name="Shape 3"/>
          <p:cNvSpPr/>
          <p:nvPr/>
        </p:nvSpPr>
        <p:spPr>
          <a:xfrm>
            <a:off x="457200" y="1051560"/>
            <a:ext cx="4023360" cy="731520"/>
          </a:xfrm>
          <a:prstGeom prst="roundRect">
            <a:avLst>
              <a:gd name="adj" fmla="val 12500"/>
            </a:avLst>
          </a:prstGeom>
          <a:solidFill>
            <a:srgbClr val="F1F3F7"/>
          </a:solidFill>
          <a:ln w="12700">
            <a:solidFill>
              <a:srgbClr val="F1F3F7"/>
            </a:solidFill>
            <a:prstDash val="solid"/>
          </a:ln>
        </p:spPr>
      </p:sp>
      <p:sp>
        <p:nvSpPr>
          <p:cNvPr id="6" name="Text 4"/>
          <p:cNvSpPr txBox="1"/>
          <p:nvPr/>
        </p:nvSpPr>
        <p:spPr>
          <a:xfrm>
            <a:off x="640080" y="1051560"/>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01</a:t>
            </a:r>
            <a:endParaRPr lang="en-US" sz="2200" dirty="0"/>
          </a:p>
        </p:txBody>
      </p:sp>
      <p:sp>
        <p:nvSpPr>
          <p:cNvPr id="7" name="Text 5"/>
          <p:cNvSpPr txBox="1"/>
          <p:nvPr/>
        </p:nvSpPr>
        <p:spPr>
          <a:xfrm>
            <a:off x="1325880" y="1051560"/>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導入：操作パラダイムの移行</a:t>
            </a:r>
            <a:endParaRPr lang="en-US" sz="1500" dirty="0"/>
          </a:p>
        </p:txBody>
      </p:sp>
      <p:sp>
        <p:nvSpPr>
          <p:cNvPr id="8" name="Shape 6"/>
          <p:cNvSpPr/>
          <p:nvPr/>
        </p:nvSpPr>
        <p:spPr>
          <a:xfrm>
            <a:off x="4663440" y="1051560"/>
            <a:ext cx="4023360" cy="731520"/>
          </a:xfrm>
          <a:prstGeom prst="roundRect">
            <a:avLst>
              <a:gd name="adj" fmla="val 12500"/>
            </a:avLst>
          </a:prstGeom>
          <a:solidFill>
            <a:srgbClr val="F1F3F7"/>
          </a:solidFill>
          <a:ln w="12700">
            <a:solidFill>
              <a:srgbClr val="F1F3F7"/>
            </a:solidFill>
            <a:prstDash val="solid"/>
          </a:ln>
        </p:spPr>
      </p:sp>
      <p:sp>
        <p:nvSpPr>
          <p:cNvPr id="9" name="Text 7"/>
          <p:cNvSpPr txBox="1"/>
          <p:nvPr/>
        </p:nvSpPr>
        <p:spPr>
          <a:xfrm>
            <a:off x="4846320" y="1051560"/>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02</a:t>
            </a:r>
            <a:endParaRPr lang="en-US" sz="2200" dirty="0"/>
          </a:p>
        </p:txBody>
      </p:sp>
      <p:sp>
        <p:nvSpPr>
          <p:cNvPr id="10" name="Text 8"/>
          <p:cNvSpPr txBox="1"/>
          <p:nvPr/>
        </p:nvSpPr>
        <p:spPr>
          <a:xfrm>
            <a:off x="5532120" y="1051560"/>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スラッシュコマンドを支える技術基盤</a:t>
            </a:r>
            <a:endParaRPr lang="en-US" sz="1500" dirty="0"/>
          </a:p>
        </p:txBody>
      </p:sp>
      <p:sp>
        <p:nvSpPr>
          <p:cNvPr id="11" name="Shape 9"/>
          <p:cNvSpPr/>
          <p:nvPr/>
        </p:nvSpPr>
        <p:spPr>
          <a:xfrm>
            <a:off x="457200" y="1947672"/>
            <a:ext cx="4023360" cy="731520"/>
          </a:xfrm>
          <a:prstGeom prst="roundRect">
            <a:avLst>
              <a:gd name="adj" fmla="val 12500"/>
            </a:avLst>
          </a:prstGeom>
          <a:solidFill>
            <a:srgbClr val="F1F3F7"/>
          </a:solidFill>
          <a:ln w="12700">
            <a:solidFill>
              <a:srgbClr val="F1F3F7"/>
            </a:solidFill>
            <a:prstDash val="solid"/>
          </a:ln>
        </p:spPr>
      </p:sp>
      <p:sp>
        <p:nvSpPr>
          <p:cNvPr id="12" name="Text 10"/>
          <p:cNvSpPr txBox="1"/>
          <p:nvPr/>
        </p:nvSpPr>
        <p:spPr>
          <a:xfrm>
            <a:off x="640080" y="1947672"/>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03</a:t>
            </a:r>
            <a:endParaRPr lang="en-US" sz="2200" dirty="0"/>
          </a:p>
        </p:txBody>
      </p:sp>
      <p:sp>
        <p:nvSpPr>
          <p:cNvPr id="13" name="Text 11"/>
          <p:cNvSpPr txBox="1"/>
          <p:nvPr/>
        </p:nvSpPr>
        <p:spPr>
          <a:xfrm>
            <a:off x="1325880" y="1947672"/>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Claude Code</a:t>
            </a:r>
            <a:endParaRPr lang="en-US" sz="1500" dirty="0"/>
          </a:p>
        </p:txBody>
      </p:sp>
      <p:sp>
        <p:nvSpPr>
          <p:cNvPr id="14" name="Shape 12"/>
          <p:cNvSpPr/>
          <p:nvPr/>
        </p:nvSpPr>
        <p:spPr>
          <a:xfrm>
            <a:off x="4663440" y="1947672"/>
            <a:ext cx="4023360" cy="731520"/>
          </a:xfrm>
          <a:prstGeom prst="roundRect">
            <a:avLst>
              <a:gd name="adj" fmla="val 12500"/>
            </a:avLst>
          </a:prstGeom>
          <a:solidFill>
            <a:srgbClr val="F1F3F7"/>
          </a:solidFill>
          <a:ln w="12700">
            <a:solidFill>
              <a:srgbClr val="F1F3F7"/>
            </a:solidFill>
            <a:prstDash val="solid"/>
          </a:ln>
        </p:spPr>
      </p:sp>
      <p:sp>
        <p:nvSpPr>
          <p:cNvPr id="15" name="Text 13"/>
          <p:cNvSpPr txBox="1"/>
          <p:nvPr/>
        </p:nvSpPr>
        <p:spPr>
          <a:xfrm>
            <a:off x="4846320" y="1947672"/>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04</a:t>
            </a:r>
            <a:endParaRPr lang="en-US" sz="2200" dirty="0"/>
          </a:p>
        </p:txBody>
      </p:sp>
      <p:sp>
        <p:nvSpPr>
          <p:cNvPr id="16" name="Text 14"/>
          <p:cNvSpPr txBox="1"/>
          <p:nvPr/>
        </p:nvSpPr>
        <p:spPr>
          <a:xfrm>
            <a:off x="5532120" y="1947672"/>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Google Antigravity</a:t>
            </a:r>
            <a:endParaRPr lang="en-US" sz="1500" dirty="0"/>
          </a:p>
        </p:txBody>
      </p:sp>
      <p:sp>
        <p:nvSpPr>
          <p:cNvPr id="17" name="Shape 15"/>
          <p:cNvSpPr/>
          <p:nvPr/>
        </p:nvSpPr>
        <p:spPr>
          <a:xfrm>
            <a:off x="457200" y="2843784"/>
            <a:ext cx="4023360" cy="731520"/>
          </a:xfrm>
          <a:prstGeom prst="roundRect">
            <a:avLst>
              <a:gd name="adj" fmla="val 12500"/>
            </a:avLst>
          </a:prstGeom>
          <a:solidFill>
            <a:srgbClr val="F1F3F7"/>
          </a:solidFill>
          <a:ln w="12700">
            <a:solidFill>
              <a:srgbClr val="F1F3F7"/>
            </a:solidFill>
            <a:prstDash val="solid"/>
          </a:ln>
        </p:spPr>
      </p:sp>
      <p:sp>
        <p:nvSpPr>
          <p:cNvPr id="18" name="Text 16"/>
          <p:cNvSpPr txBox="1"/>
          <p:nvPr/>
        </p:nvSpPr>
        <p:spPr>
          <a:xfrm>
            <a:off x="640080" y="2843784"/>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05</a:t>
            </a:r>
            <a:endParaRPr lang="en-US" sz="2200" dirty="0"/>
          </a:p>
        </p:txBody>
      </p:sp>
      <p:sp>
        <p:nvSpPr>
          <p:cNvPr id="19" name="Text 17"/>
          <p:cNvSpPr txBox="1"/>
          <p:nvPr/>
        </p:nvSpPr>
        <p:spPr>
          <a:xfrm>
            <a:off x="1325880" y="2843784"/>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OpenAI Codex CLI</a:t>
            </a:r>
            <a:endParaRPr lang="en-US" sz="1500" dirty="0"/>
          </a:p>
        </p:txBody>
      </p:sp>
      <p:sp>
        <p:nvSpPr>
          <p:cNvPr id="20" name="Shape 18"/>
          <p:cNvSpPr/>
          <p:nvPr/>
        </p:nvSpPr>
        <p:spPr>
          <a:xfrm>
            <a:off x="4663440" y="2843784"/>
            <a:ext cx="4023360" cy="731520"/>
          </a:xfrm>
          <a:prstGeom prst="roundRect">
            <a:avLst>
              <a:gd name="adj" fmla="val 12500"/>
            </a:avLst>
          </a:prstGeom>
          <a:solidFill>
            <a:srgbClr val="F1F3F7"/>
          </a:solidFill>
          <a:ln w="12700">
            <a:solidFill>
              <a:srgbClr val="F1F3F7"/>
            </a:solidFill>
            <a:prstDash val="solid"/>
          </a:ln>
        </p:spPr>
      </p:sp>
      <p:sp>
        <p:nvSpPr>
          <p:cNvPr id="21" name="Text 19"/>
          <p:cNvSpPr txBox="1"/>
          <p:nvPr/>
        </p:nvSpPr>
        <p:spPr>
          <a:xfrm>
            <a:off x="4846320" y="2843784"/>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06</a:t>
            </a:r>
            <a:endParaRPr lang="en-US" sz="2200" dirty="0"/>
          </a:p>
        </p:txBody>
      </p:sp>
      <p:sp>
        <p:nvSpPr>
          <p:cNvPr id="22" name="Text 20"/>
          <p:cNvSpPr txBox="1"/>
          <p:nvPr/>
        </p:nvSpPr>
        <p:spPr>
          <a:xfrm>
            <a:off x="5532120" y="2843784"/>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3大プラットフォームの比較</a:t>
            </a:r>
            <a:endParaRPr lang="en-US" sz="1500" dirty="0"/>
          </a:p>
        </p:txBody>
      </p:sp>
      <p:sp>
        <p:nvSpPr>
          <p:cNvPr id="23" name="Shape 21"/>
          <p:cNvSpPr/>
          <p:nvPr/>
        </p:nvSpPr>
        <p:spPr>
          <a:xfrm>
            <a:off x="457200" y="3739896"/>
            <a:ext cx="4023360" cy="731520"/>
          </a:xfrm>
          <a:prstGeom prst="roundRect">
            <a:avLst>
              <a:gd name="adj" fmla="val 12500"/>
            </a:avLst>
          </a:prstGeom>
          <a:solidFill>
            <a:srgbClr val="F1F3F7"/>
          </a:solidFill>
          <a:ln w="12700">
            <a:solidFill>
              <a:srgbClr val="F1F3F7"/>
            </a:solidFill>
            <a:prstDash val="solid"/>
          </a:ln>
        </p:spPr>
      </p:sp>
      <p:sp>
        <p:nvSpPr>
          <p:cNvPr id="24" name="Text 22"/>
          <p:cNvSpPr txBox="1"/>
          <p:nvPr/>
        </p:nvSpPr>
        <p:spPr>
          <a:xfrm>
            <a:off x="640080" y="3739896"/>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07</a:t>
            </a:r>
            <a:endParaRPr lang="en-US" sz="2200" dirty="0"/>
          </a:p>
        </p:txBody>
      </p:sp>
      <p:sp>
        <p:nvSpPr>
          <p:cNvPr id="25" name="Text 23"/>
          <p:cNvSpPr txBox="1"/>
          <p:nvPr/>
        </p:nvSpPr>
        <p:spPr>
          <a:xfrm>
            <a:off x="1325880" y="3739896"/>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セキュリティ脅威と「GuardFall」</a:t>
            </a:r>
            <a:endParaRPr lang="en-US" sz="1500" dirty="0"/>
          </a:p>
        </p:txBody>
      </p:sp>
      <p:sp>
        <p:nvSpPr>
          <p:cNvPr id="26" name="Shape 24"/>
          <p:cNvSpPr/>
          <p:nvPr/>
        </p:nvSpPr>
        <p:spPr>
          <a:xfrm>
            <a:off x="4663440" y="3739896"/>
            <a:ext cx="4023360" cy="731520"/>
          </a:xfrm>
          <a:prstGeom prst="roundRect">
            <a:avLst>
              <a:gd name="adj" fmla="val 12500"/>
            </a:avLst>
          </a:prstGeom>
          <a:solidFill>
            <a:srgbClr val="F1F3F7"/>
          </a:solidFill>
          <a:ln w="12700">
            <a:solidFill>
              <a:srgbClr val="F1F3F7"/>
            </a:solidFill>
            <a:prstDash val="solid"/>
          </a:ln>
        </p:spPr>
      </p:sp>
      <p:sp>
        <p:nvSpPr>
          <p:cNvPr id="27" name="Text 25"/>
          <p:cNvSpPr txBox="1"/>
          <p:nvPr/>
        </p:nvSpPr>
        <p:spPr>
          <a:xfrm>
            <a:off x="4846320" y="3739896"/>
            <a:ext cx="640080" cy="731520"/>
          </a:xfrm>
          <a:prstGeom prst="rect">
            <a:avLst/>
          </a:prstGeom>
          <a:noFill/>
          <a:ln/>
        </p:spPr>
        <p:txBody>
          <a:bodyPr wrap="square" lIns="0" tIns="0" rIns="0" bIns="0" rtlCol="0" anchor="ctr"/>
          <a:lstStyle/>
          <a:p>
            <a:pPr indent="0" marL="0">
              <a:buNone/>
            </a:pPr>
            <a:r>
              <a:rPr lang="en-US" sz="2200" b="1" dirty="0">
                <a:solidFill>
                  <a:srgbClr val="F2A93B"/>
                </a:solidFill>
                <a:latin typeface="Courier New" pitchFamily="34" charset="0"/>
                <a:ea typeface="Courier New" pitchFamily="34" charset="-122"/>
                <a:cs typeface="Courier New" pitchFamily="34" charset="-120"/>
              </a:rPr>
              <a:t>08</a:t>
            </a:r>
            <a:endParaRPr lang="en-US" sz="2200" dirty="0"/>
          </a:p>
        </p:txBody>
      </p:sp>
      <p:sp>
        <p:nvSpPr>
          <p:cNvPr id="28" name="Text 26"/>
          <p:cNvSpPr txBox="1"/>
          <p:nvPr/>
        </p:nvSpPr>
        <p:spPr>
          <a:xfrm>
            <a:off x="5532120" y="3739896"/>
            <a:ext cx="3017520" cy="731520"/>
          </a:xfrm>
          <a:prstGeom prst="rect">
            <a:avLst/>
          </a:prstGeom>
          <a:noFill/>
          <a:ln/>
        </p:spPr>
        <p:txBody>
          <a:bodyPr wrap="square" lIns="0" tIns="0" rIns="0" bIns="0" rtlCol="0" anchor="ctr"/>
          <a:lstStyle/>
          <a:p>
            <a:pPr indent="0" marL="0">
              <a:buNone/>
            </a:pPr>
            <a:r>
              <a:rPr lang="en-US" sz="1500" b="1" dirty="0">
                <a:solidFill>
                  <a:srgbClr val="1F2430"/>
                </a:solidFill>
                <a:latin typeface="Yu Gothic" pitchFamily="34" charset="0"/>
                <a:ea typeface="Yu Gothic" pitchFamily="34" charset="-122"/>
                <a:cs typeface="Yu Gothic" pitchFamily="34" charset="-120"/>
              </a:rPr>
              <a:t>結論</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F2A93B"/>
                </a:solidFill>
                <a:latin typeface="Courier New" pitchFamily="34" charset="0"/>
                <a:ea typeface="Courier New" pitchFamily="34" charset="-122"/>
                <a:cs typeface="Courier New" pitchFamily="34" charset="-120"/>
              </a:rPr>
              <a:t>01</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導入：操作パラダイムの移行</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補完から自律へ、そしてスラッシュコマンドへ</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補完型から自律型エージェントへ</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4</a:t>
            </a:r>
            <a:endParaRPr lang="en-US" sz="800" dirty="0"/>
          </a:p>
        </p:txBody>
      </p:sp>
      <p:sp>
        <p:nvSpPr>
          <p:cNvPr id="5" name="Shape 3"/>
          <p:cNvSpPr/>
          <p:nvPr/>
        </p:nvSpPr>
        <p:spPr>
          <a:xfrm>
            <a:off x="457200" y="1097280"/>
            <a:ext cx="3566160" cy="1920240"/>
          </a:xfrm>
          <a:prstGeom prst="roundRect">
            <a:avLst>
              <a:gd name="adj" fmla="val 4762"/>
            </a:avLst>
          </a:prstGeom>
          <a:solidFill>
            <a:srgbClr val="F1F3F7"/>
          </a:solidFill>
          <a:ln w="12700">
            <a:solidFill>
              <a:srgbClr val="F1F3F7"/>
            </a:solidFill>
            <a:prstDash val="solid"/>
          </a:ln>
        </p:spPr>
      </p:sp>
      <p:sp>
        <p:nvSpPr>
          <p:cNvPr id="6" name="Text 4"/>
          <p:cNvSpPr txBox="1"/>
          <p:nvPr/>
        </p:nvSpPr>
        <p:spPr>
          <a:xfrm>
            <a:off x="685800" y="1234440"/>
            <a:ext cx="3108960" cy="27432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かつて</a:t>
            </a:r>
            <a:endParaRPr lang="en-US" sz="1200" dirty="0"/>
          </a:p>
        </p:txBody>
      </p:sp>
      <p:sp>
        <p:nvSpPr>
          <p:cNvPr id="7" name="Text 5"/>
          <p:cNvSpPr txBox="1"/>
          <p:nvPr/>
        </p:nvSpPr>
        <p:spPr>
          <a:xfrm>
            <a:off x="685800" y="1508760"/>
            <a:ext cx="3108960" cy="411480"/>
          </a:xfrm>
          <a:prstGeom prst="rect">
            <a:avLst/>
          </a:prstGeom>
          <a:noFill/>
          <a:ln/>
        </p:spPr>
        <p:txBody>
          <a:bodyPr wrap="square" lIns="0" tIns="0" rIns="0" bIns="0" rtlCol="0" anchor="t"/>
          <a:lstStyle/>
          <a:p>
            <a:pPr indent="0" marL="0">
              <a:buNone/>
            </a:pPr>
            <a:r>
              <a:rPr lang="en-US" sz="1800" b="1" dirty="0">
                <a:solidFill>
                  <a:srgbClr val="1F2430"/>
                </a:solidFill>
                <a:latin typeface="Yu Gothic" pitchFamily="34" charset="0"/>
                <a:ea typeface="Yu Gothic" pitchFamily="34" charset="-122"/>
                <a:cs typeface="Yu Gothic" pitchFamily="34" charset="-120"/>
              </a:rPr>
              <a:t>Copilot型のコード補完</a:t>
            </a:r>
            <a:endParaRPr lang="en-US" sz="1800" dirty="0"/>
          </a:p>
        </p:txBody>
      </p:sp>
      <p:sp>
        <p:nvSpPr>
          <p:cNvPr id="8" name="Text 6"/>
          <p:cNvSpPr txBox="1"/>
          <p:nvPr/>
        </p:nvSpPr>
        <p:spPr>
          <a:xfrm>
            <a:off x="685800" y="2011680"/>
            <a:ext cx="3108960" cy="82296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エディタ内で、単一ファイルに対して補完を行う</a:t>
            </a:r>
            <a:endParaRPr lang="en-US" sz="1300" dirty="0"/>
          </a:p>
        </p:txBody>
      </p:sp>
      <p:sp>
        <p:nvSpPr>
          <p:cNvPr id="9" name="Shape 7"/>
          <p:cNvSpPr/>
          <p:nvPr/>
        </p:nvSpPr>
        <p:spPr>
          <a:xfrm>
            <a:off x="4160520" y="1874520"/>
            <a:ext cx="731520" cy="365760"/>
          </a:xfrm>
          <a:prstGeom prst="rightArrow">
            <a:avLst/>
          </a:prstGeom>
          <a:solidFill>
            <a:srgbClr val="F2A93B"/>
          </a:solidFill>
          <a:ln w="12700">
            <a:solidFill>
              <a:srgbClr val="F2A93B"/>
            </a:solidFill>
            <a:prstDash val="solid"/>
          </a:ln>
        </p:spPr>
      </p:sp>
      <p:sp>
        <p:nvSpPr>
          <p:cNvPr id="10" name="Shape 8"/>
          <p:cNvSpPr/>
          <p:nvPr/>
        </p:nvSpPr>
        <p:spPr>
          <a:xfrm>
            <a:off x="5029200" y="1097280"/>
            <a:ext cx="3657600" cy="1920240"/>
          </a:xfrm>
          <a:prstGeom prst="roundRect">
            <a:avLst>
              <a:gd name="adj" fmla="val 4762"/>
            </a:avLst>
          </a:prstGeom>
          <a:solidFill>
            <a:srgbClr val="161B26"/>
          </a:solidFill>
          <a:ln w="12700">
            <a:solidFill>
              <a:srgbClr val="161B26"/>
            </a:solidFill>
            <a:prstDash val="solid"/>
          </a:ln>
        </p:spPr>
      </p:sp>
      <p:sp>
        <p:nvSpPr>
          <p:cNvPr id="11" name="Text 9"/>
          <p:cNvSpPr txBox="1"/>
          <p:nvPr/>
        </p:nvSpPr>
        <p:spPr>
          <a:xfrm>
            <a:off x="5257800" y="1234440"/>
            <a:ext cx="3200400" cy="274320"/>
          </a:xfrm>
          <a:prstGeom prst="rect">
            <a:avLst/>
          </a:prstGeom>
          <a:noFill/>
          <a:ln/>
        </p:spPr>
        <p:txBody>
          <a:bodyPr wrap="square" lIns="0" tIns="0" rIns="0" bIns="0" rtlCol="0" anchor="t"/>
          <a:lstStyle/>
          <a:p>
            <a:pPr indent="0" marL="0">
              <a:buNone/>
            </a:pPr>
            <a:r>
              <a:rPr lang="en-US" sz="1200" dirty="0">
                <a:solidFill>
                  <a:srgbClr val="AEB6C6"/>
                </a:solidFill>
                <a:latin typeface="Yu Gothic" pitchFamily="34" charset="0"/>
                <a:ea typeface="Yu Gothic" pitchFamily="34" charset="-122"/>
                <a:cs typeface="Yu Gothic" pitchFamily="34" charset="-120"/>
              </a:rPr>
              <a:t>現在</a:t>
            </a:r>
            <a:endParaRPr lang="en-US" sz="1200" dirty="0"/>
          </a:p>
        </p:txBody>
      </p:sp>
      <p:sp>
        <p:nvSpPr>
          <p:cNvPr id="12" name="Text 10"/>
          <p:cNvSpPr txBox="1"/>
          <p:nvPr/>
        </p:nvSpPr>
        <p:spPr>
          <a:xfrm>
            <a:off x="5257800" y="1508760"/>
            <a:ext cx="3200400" cy="411480"/>
          </a:xfrm>
          <a:prstGeom prst="rect">
            <a:avLst/>
          </a:prstGeom>
          <a:noFill/>
          <a:ln/>
        </p:spPr>
        <p:txBody>
          <a:bodyPr wrap="square" lIns="0" tIns="0" rIns="0" bIns="0" rtlCol="0" anchor="t"/>
          <a:lstStyle/>
          <a:p>
            <a:pPr indent="0" marL="0">
              <a:buNone/>
            </a:pPr>
            <a:r>
              <a:rPr lang="en-US" sz="1800" b="1" dirty="0">
                <a:solidFill>
                  <a:srgbClr val="FFFFFF"/>
                </a:solidFill>
                <a:latin typeface="Yu Gothic" pitchFamily="34" charset="0"/>
                <a:ea typeface="Yu Gothic" pitchFamily="34" charset="-122"/>
                <a:cs typeface="Yu Gothic" pitchFamily="34" charset="-120"/>
              </a:rPr>
              <a:t>自律型エージェント</a:t>
            </a:r>
            <a:endParaRPr lang="en-US" sz="1800" dirty="0"/>
          </a:p>
        </p:txBody>
      </p:sp>
      <p:sp>
        <p:nvSpPr>
          <p:cNvPr id="13" name="Text 11"/>
          <p:cNvSpPr txBox="1"/>
          <p:nvPr/>
        </p:nvSpPr>
        <p:spPr>
          <a:xfrm>
            <a:off x="5257800" y="2011680"/>
            <a:ext cx="3200400" cy="822960"/>
          </a:xfrm>
          <a:prstGeom prst="rect">
            <a:avLst/>
          </a:prstGeom>
          <a:noFill/>
          <a:ln/>
        </p:spPr>
        <p:txBody>
          <a:bodyPr wrap="square" lIns="0" tIns="0" rIns="0" bIns="0" rtlCol="0" anchor="t"/>
          <a:lstStyle/>
          <a:p>
            <a:pPr indent="0" marL="0">
              <a:buNone/>
            </a:pPr>
            <a:r>
              <a:rPr lang="en-US" sz="1300" dirty="0">
                <a:solidFill>
                  <a:srgbClr val="C9D0DD"/>
                </a:solidFill>
                <a:latin typeface="Yu Gothic" pitchFamily="34" charset="0"/>
                <a:ea typeface="Yu Gothic" pitchFamily="34" charset="-122"/>
                <a:cs typeface="Yu Gothic" pitchFamily="34" charset="-120"/>
              </a:rPr>
              <a:t>リポジトリ全体を探索し、計画、コマンド実行、テスト修正まで自律的に行う [1]</a:t>
            </a:r>
            <a:endParaRPr lang="en-US" sz="1300" dirty="0"/>
          </a:p>
        </p:txBody>
      </p:sp>
      <p:sp>
        <p:nvSpPr>
          <p:cNvPr id="14" name="Text 12"/>
          <p:cNvSpPr txBox="1"/>
          <p:nvPr/>
        </p:nvSpPr>
        <p:spPr>
          <a:xfrm>
            <a:off x="457200" y="3337560"/>
            <a:ext cx="8229600" cy="548640"/>
          </a:xfrm>
          <a:prstGeom prst="rect">
            <a:avLst/>
          </a:prstGeom>
          <a:noFill/>
          <a:ln/>
        </p:spPr>
        <p:txBody>
          <a:bodyPr wrap="square" lIns="0" tIns="0" rIns="0" bIns="0" rtlCol="0" anchor="t"/>
          <a:lstStyle/>
          <a:p>
            <a:pPr indent="0" marL="0">
              <a:buNone/>
            </a:pPr>
            <a:r>
              <a:rPr lang="en-US" sz="1400" dirty="0">
                <a:solidFill>
                  <a:srgbClr val="1F2430"/>
                </a:solidFill>
                <a:latin typeface="Yu Gothic" pitchFamily="34" charset="0"/>
                <a:ea typeface="Yu Gothic" pitchFamily="34" charset="-122"/>
                <a:cs typeface="Yu Gothic" pitchFamily="34" charset="-120"/>
              </a:rPr>
              <a:t>自然言語の曖昧さを排除し、決定論的で再現性の高い操作を行うための標準インターフェースとして定着したのが</a:t>
            </a:r>
            <a:endParaRPr lang="en-US" sz="1400" dirty="0"/>
          </a:p>
        </p:txBody>
      </p:sp>
      <p:sp>
        <p:nvSpPr>
          <p:cNvPr id="15" name="Shape 13"/>
          <p:cNvSpPr/>
          <p:nvPr/>
        </p:nvSpPr>
        <p:spPr>
          <a:xfrm>
            <a:off x="2286000" y="3977640"/>
            <a:ext cx="4572000" cy="457200"/>
          </a:xfrm>
          <a:prstGeom prst="roundRect">
            <a:avLst>
              <a:gd name="adj" fmla="val 16000"/>
            </a:avLst>
          </a:prstGeom>
          <a:solidFill>
            <a:srgbClr val="161B26"/>
          </a:solidFill>
          <a:ln w="12700">
            <a:solidFill>
              <a:srgbClr val="161B26"/>
            </a:solidFill>
            <a:prstDash val="solid"/>
          </a:ln>
        </p:spPr>
      </p:sp>
      <p:sp>
        <p:nvSpPr>
          <p:cNvPr id="16" name="Text 14"/>
          <p:cNvSpPr txBox="1"/>
          <p:nvPr/>
        </p:nvSpPr>
        <p:spPr>
          <a:xfrm>
            <a:off x="2286000" y="3977640"/>
            <a:ext cx="4572000" cy="457200"/>
          </a:xfrm>
          <a:prstGeom prst="rect">
            <a:avLst/>
          </a:prstGeom>
          <a:noFill/>
          <a:ln/>
        </p:spPr>
        <p:txBody>
          <a:bodyPr wrap="square" lIns="0" tIns="0" rIns="0" bIns="0" rtlCol="0" anchor="ctr"/>
          <a:lstStyle/>
          <a:p>
            <a:pPr algn="ctr" indent="0" marL="0">
              <a:buNone/>
            </a:pPr>
            <a:r>
              <a:rPr lang="en-US" sz="1600" b="1" dirty="0">
                <a:solidFill>
                  <a:srgbClr val="F2A93B"/>
                </a:solidFill>
                <a:latin typeface="Courier New" pitchFamily="34" charset="0"/>
                <a:ea typeface="Courier New" pitchFamily="34" charset="-122"/>
                <a:cs typeface="Courier New" pitchFamily="34" charset="-120"/>
              </a:rPr>
              <a:t>Slash Commands（スラッシュコマンド）</a:t>
            </a:r>
            <a:endParaRPr lang="en-US" sz="1600" dirty="0"/>
          </a:p>
        </p:txBody>
      </p:sp>
      <p:sp>
        <p:nvSpPr>
          <p:cNvPr id="17" name="Text 15"/>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スラッシュコマンドとは</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5</a:t>
            </a:r>
            <a:endParaRPr lang="en-US" sz="800" dirty="0"/>
          </a:p>
        </p:txBody>
      </p:sp>
      <p:sp>
        <p:nvSpPr>
          <p:cNvPr id="5" name="Shape 3"/>
          <p:cNvSpPr/>
          <p:nvPr/>
        </p:nvSpPr>
        <p:spPr>
          <a:xfrm>
            <a:off x="457200" y="1051560"/>
            <a:ext cx="3840480" cy="2377440"/>
          </a:xfrm>
          <a:prstGeom prst="roundRect">
            <a:avLst>
              <a:gd name="adj" fmla="val 3846"/>
            </a:avLst>
          </a:prstGeom>
          <a:solidFill>
            <a:srgbClr val="161B26"/>
          </a:solidFill>
          <a:ln w="12700">
            <a:solidFill>
              <a:srgbClr val="161B26"/>
            </a:solidFill>
            <a:prstDash val="solid"/>
          </a:ln>
        </p:spPr>
      </p:sp>
      <p:sp>
        <p:nvSpPr>
          <p:cNvPr id="6" name="Text 4"/>
          <p:cNvSpPr txBox="1"/>
          <p:nvPr/>
        </p:nvSpPr>
        <p:spPr>
          <a:xfrm>
            <a:off x="685800" y="1234440"/>
            <a:ext cx="3474720" cy="2011680"/>
          </a:xfrm>
          <a:prstGeom prst="rect">
            <a:avLst/>
          </a:prstGeom>
          <a:noFill/>
          <a:ln/>
        </p:spPr>
        <p:txBody>
          <a:bodyPr wrap="square" lIns="0" tIns="0" rIns="0" bIns="0" rtlCol="0" anchor="t"/>
          <a:lstStyle/>
          <a:p>
            <a:pPr indent="0" marL="0">
              <a:lnSpc>
                <a:spcPct val="130000"/>
              </a:lnSpc>
              <a:buNone/>
            </a:pPr>
            <a:r>
              <a:rPr lang="en-US" sz="1300" dirty="0">
                <a:solidFill>
                  <a:srgbClr val="7F8AA3"/>
                </a:solidFill>
                <a:latin typeface="Courier New" pitchFamily="34" charset="0"/>
                <a:ea typeface="Courier New" pitchFamily="34" charset="-122"/>
                <a:cs typeface="Courier New" pitchFamily="34" charset="-120"/>
              </a:rPr>
              <a:t>&gt; </a:t>
            </a:r>
            <a:pPr indent="0" marL="0">
              <a:lnSpc>
                <a:spcPct val="130000"/>
              </a:lnSpc>
              <a:buNone/>
            </a:pPr>
            <a:r>
              <a:rPr lang="en-US" sz="1300" b="1" dirty="0">
                <a:solidFill>
                  <a:srgbClr val="F2A93B"/>
                </a:solidFill>
                <a:latin typeface="Courier New" pitchFamily="34" charset="0"/>
                <a:ea typeface="Courier New" pitchFamily="34" charset="-122"/>
                <a:cs typeface="Courier New" pitchFamily="34" charset="-120"/>
              </a:rPr>
              <a:t>/</a:t>
            </a:r>
            <a:endParaRPr lang="en-US" sz="1300" dirty="0"/>
          </a:p>
          <a:p>
            <a:pPr indent="0" marL="0">
              <a:lnSpc>
                <a:spcPct val="130000"/>
              </a:lnSpc>
              <a:buNone/>
            </a:pPr>
            <a:r>
              <a:rPr lang="en-US" sz="1300" dirty="0">
                <a:solidFill>
                  <a:srgbClr val="F2A93B"/>
                </a:solidFill>
                <a:latin typeface="Courier New" pitchFamily="34" charset="0"/>
                <a:ea typeface="Courier New" pitchFamily="34" charset="-122"/>
                <a:cs typeface="Courier New" pitchFamily="34" charset="-120"/>
              </a:rPr>
              <a:t>  /compact</a:t>
            </a:r>
            <a:pPr indent="0" marL="0">
              <a:lnSpc>
                <a:spcPct val="130000"/>
              </a:lnSpc>
              <a:buNone/>
            </a:pPr>
            <a:r>
              <a:rPr lang="en-US" sz="1300" dirty="0">
                <a:solidFill>
                  <a:srgbClr val="AEB6C6"/>
                </a:solidFill>
                <a:latin typeface="Yu Gothic" pitchFamily="34" charset="0"/>
                <a:ea typeface="Yu Gothic" pitchFamily="34" charset="-122"/>
                <a:cs typeface="Yu Gothic" pitchFamily="34" charset="-120"/>
              </a:rPr>
              <a:t>  履歴を圧縮</a:t>
            </a:r>
            <a:endParaRPr lang="en-US" sz="1300" dirty="0"/>
          </a:p>
          <a:p>
            <a:pPr indent="0" marL="0">
              <a:lnSpc>
                <a:spcPct val="130000"/>
              </a:lnSpc>
              <a:buNone/>
            </a:pPr>
            <a:r>
              <a:rPr lang="en-US" sz="1300" dirty="0">
                <a:solidFill>
                  <a:srgbClr val="F2A93B"/>
                </a:solidFill>
                <a:latin typeface="Courier New" pitchFamily="34" charset="0"/>
                <a:ea typeface="Courier New" pitchFamily="34" charset="-122"/>
                <a:cs typeface="Courier New" pitchFamily="34" charset="-120"/>
              </a:rPr>
              <a:t>  /branch </a:t>
            </a:r>
            <a:pPr indent="0" marL="0">
              <a:lnSpc>
                <a:spcPct val="130000"/>
              </a:lnSpc>
              <a:buNone/>
            </a:pPr>
            <a:r>
              <a:rPr lang="en-US" sz="1300" dirty="0">
                <a:solidFill>
                  <a:srgbClr val="AEB6C6"/>
                </a:solidFill>
                <a:latin typeface="Yu Gothic" pitchFamily="34" charset="0"/>
                <a:ea typeface="Yu Gothic" pitchFamily="34" charset="-122"/>
                <a:cs typeface="Yu Gothic" pitchFamily="34" charset="-120"/>
              </a:rPr>
              <a:t>  並行検証</a:t>
            </a:r>
            <a:endParaRPr lang="en-US" sz="1300" dirty="0"/>
          </a:p>
          <a:p>
            <a:pPr indent="0" marL="0">
              <a:lnSpc>
                <a:spcPct val="130000"/>
              </a:lnSpc>
              <a:buNone/>
            </a:pPr>
            <a:r>
              <a:rPr lang="en-US" sz="1300" dirty="0">
                <a:solidFill>
                  <a:srgbClr val="F2A93B"/>
                </a:solidFill>
                <a:latin typeface="Courier New" pitchFamily="34" charset="0"/>
                <a:ea typeface="Courier New" pitchFamily="34" charset="-122"/>
                <a:cs typeface="Courier New" pitchFamily="34" charset="-120"/>
              </a:rPr>
              <a:t>  /security-review</a:t>
            </a:r>
            <a:endParaRPr lang="en-US" sz="1300" dirty="0"/>
          </a:p>
          <a:p>
            <a:pPr indent="0" marL="0">
              <a:lnSpc>
                <a:spcPct val="130000"/>
              </a:lnSpc>
              <a:buNone/>
            </a:pPr>
            <a:r>
              <a:rPr lang="en-US" sz="1300" dirty="0">
                <a:solidFill>
                  <a:srgbClr val="F2A93B"/>
                </a:solidFill>
                <a:latin typeface="Courier New" pitchFamily="34" charset="0"/>
                <a:ea typeface="Courier New" pitchFamily="34" charset="-122"/>
                <a:cs typeface="Courier New" pitchFamily="34" charset="-120"/>
              </a:rPr>
              <a:t>  /plan   </a:t>
            </a:r>
            <a:pPr indent="0" marL="0">
              <a:lnSpc>
                <a:spcPct val="130000"/>
              </a:lnSpc>
              <a:buNone/>
            </a:pPr>
            <a:r>
              <a:rPr lang="en-US" sz="1300" dirty="0">
                <a:solidFill>
                  <a:srgbClr val="AEB6C6"/>
                </a:solidFill>
                <a:latin typeface="Yu Gothic" pitchFamily="34" charset="0"/>
                <a:ea typeface="Yu Gothic" pitchFamily="34" charset="-122"/>
                <a:cs typeface="Yu Gothic" pitchFamily="34" charset="-120"/>
              </a:rPr>
              <a:t>  計画を立てる</a:t>
            </a:r>
            <a:endParaRPr lang="en-US" sz="1300" dirty="0"/>
          </a:p>
        </p:txBody>
      </p:sp>
      <p:sp>
        <p:nvSpPr>
          <p:cNvPr id="7" name="Text 5"/>
          <p:cNvSpPr txBox="1"/>
          <p:nvPr/>
        </p:nvSpPr>
        <p:spPr>
          <a:xfrm>
            <a:off x="4572000" y="1051560"/>
            <a:ext cx="4114800" cy="594360"/>
          </a:xfrm>
          <a:prstGeom prst="rect">
            <a:avLst/>
          </a:prstGeom>
          <a:noFill/>
          <a:ln/>
        </p:spPr>
        <p:txBody>
          <a:bodyPr wrap="square" lIns="0" tIns="0" rIns="0" bIns="0" rtlCol="0" anchor="t"/>
          <a:lstStyle/>
          <a:p>
            <a:pPr indent="0" marL="0">
              <a:buNone/>
            </a:pPr>
            <a:r>
              <a:rPr lang="en-US" sz="1400" b="1" dirty="0">
                <a:solidFill>
                  <a:srgbClr val="1F2430"/>
                </a:solidFill>
                <a:latin typeface="Yu Gothic" pitchFamily="34" charset="0"/>
                <a:ea typeface="Yu Gothic" pitchFamily="34" charset="-122"/>
                <a:cs typeface="Yu Gothic" pitchFamily="34" charset="-120"/>
              </a:rPr>
              <a:t>入力プロンプトで / から始まる文字列を打ち込み、AIに次のことを強制する仕組み [6]</a:t>
            </a:r>
            <a:endParaRPr lang="en-US" sz="1400" dirty="0"/>
          </a:p>
        </p:txBody>
      </p:sp>
      <p:sp>
        <p:nvSpPr>
          <p:cNvPr id="8" name="Text 6"/>
          <p:cNvSpPr txBox="1"/>
          <p:nvPr/>
        </p:nvSpPr>
        <p:spPr>
          <a:xfrm>
            <a:off x="4572000" y="1737360"/>
            <a:ext cx="4114800" cy="109728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事前に定義された複雑なワークフローを実行する</a:t>
            </a:r>
            <a:endParaRPr lang="en-US" sz="1300" dirty="0"/>
          </a:p>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認知モードを切り替える</a:t>
            </a:r>
            <a:endParaRPr lang="en-US" sz="1300" dirty="0"/>
          </a:p>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特定のコンテキスト（文脈）をロードする</a:t>
            </a:r>
            <a:endParaRPr lang="en-US" sz="1300" dirty="0"/>
          </a:p>
        </p:txBody>
      </p:sp>
      <p:sp>
        <p:nvSpPr>
          <p:cNvPr id="9" name="Text 7"/>
          <p:cNvSpPr txBox="1"/>
          <p:nvPr/>
        </p:nvSpPr>
        <p:spPr>
          <a:xfrm>
            <a:off x="4572000" y="2834640"/>
            <a:ext cx="4114800" cy="59436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圧縮、並行検証、セキュリティレビューなどを長い説明なしに即座に呼び出せる [8]</a:t>
            </a:r>
            <a:endParaRPr lang="en-US" sz="1200" dirty="0"/>
          </a:p>
        </p:txBody>
      </p:sp>
      <p:sp>
        <p:nvSpPr>
          <p:cNvPr id="10" name="Text 8"/>
          <p:cNvSpPr txBox="1"/>
          <p:nvPr/>
        </p:nvSpPr>
        <p:spPr>
          <a:xfrm>
            <a:off x="457200" y="3703320"/>
            <a:ext cx="1828800" cy="365760"/>
          </a:xfrm>
          <a:prstGeom prst="rect">
            <a:avLst/>
          </a:prstGeom>
          <a:noFill/>
          <a:ln/>
        </p:spPr>
        <p:txBody>
          <a:bodyPr wrap="square" lIns="0" tIns="0" rIns="0" bIns="0" rtlCol="0" anchor="ctr"/>
          <a:lstStyle/>
          <a:p>
            <a:pPr indent="0" marL="0">
              <a:buNone/>
            </a:pPr>
            <a:r>
              <a:rPr lang="en-US" sz="1300" b="1" dirty="0">
                <a:solidFill>
                  <a:srgbClr val="1F2430"/>
                </a:solidFill>
                <a:latin typeface="Yu Gothic" pitchFamily="34" charset="0"/>
                <a:ea typeface="Yu Gothic" pitchFamily="34" charset="-122"/>
                <a:cs typeface="Yu Gothic" pitchFamily="34" charset="-120"/>
              </a:rPr>
              <a:t>本発表の対象</a:t>
            </a:r>
            <a:endParaRPr lang="en-US" sz="1300" dirty="0"/>
          </a:p>
        </p:txBody>
      </p:sp>
      <p:sp>
        <p:nvSpPr>
          <p:cNvPr id="11" name="Shape 9"/>
          <p:cNvSpPr/>
          <p:nvPr/>
        </p:nvSpPr>
        <p:spPr>
          <a:xfrm>
            <a:off x="1920240" y="3703320"/>
            <a:ext cx="2103120" cy="329184"/>
          </a:xfrm>
          <a:prstGeom prst="roundRect">
            <a:avLst>
              <a:gd name="adj" fmla="val 22222"/>
            </a:avLst>
          </a:prstGeom>
          <a:solidFill>
            <a:srgbClr val="3A78E8"/>
          </a:solidFill>
          <a:ln w="12700">
            <a:solidFill>
              <a:srgbClr val="3A78E8"/>
            </a:solidFill>
            <a:prstDash val="solid"/>
          </a:ln>
        </p:spPr>
      </p:sp>
      <p:sp>
        <p:nvSpPr>
          <p:cNvPr id="12" name="Text 10"/>
          <p:cNvSpPr txBox="1"/>
          <p:nvPr/>
        </p:nvSpPr>
        <p:spPr>
          <a:xfrm>
            <a:off x="1920240" y="3703320"/>
            <a:ext cx="21031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Google Antigravity</a:t>
            </a:r>
            <a:endParaRPr lang="en-US" sz="1200" dirty="0"/>
          </a:p>
        </p:txBody>
      </p:sp>
      <p:sp>
        <p:nvSpPr>
          <p:cNvPr id="13" name="Shape 11"/>
          <p:cNvSpPr/>
          <p:nvPr/>
        </p:nvSpPr>
        <p:spPr>
          <a:xfrm>
            <a:off x="4160520" y="3703320"/>
            <a:ext cx="2331720" cy="329184"/>
          </a:xfrm>
          <a:prstGeom prst="roundRect">
            <a:avLst>
              <a:gd name="adj" fmla="val 22222"/>
            </a:avLst>
          </a:prstGeom>
          <a:solidFill>
            <a:srgbClr val="C96442"/>
          </a:solidFill>
          <a:ln w="12700">
            <a:solidFill>
              <a:srgbClr val="C96442"/>
            </a:solidFill>
            <a:prstDash val="solid"/>
          </a:ln>
        </p:spPr>
      </p:sp>
      <p:sp>
        <p:nvSpPr>
          <p:cNvPr id="14" name="Text 12"/>
          <p:cNvSpPr txBox="1"/>
          <p:nvPr/>
        </p:nvSpPr>
        <p:spPr>
          <a:xfrm>
            <a:off x="4160520" y="3703320"/>
            <a:ext cx="23317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Anthropic Claude Code</a:t>
            </a:r>
            <a:endParaRPr lang="en-US" sz="1200" dirty="0"/>
          </a:p>
        </p:txBody>
      </p:sp>
      <p:sp>
        <p:nvSpPr>
          <p:cNvPr id="15" name="Shape 13"/>
          <p:cNvSpPr/>
          <p:nvPr/>
        </p:nvSpPr>
        <p:spPr>
          <a:xfrm>
            <a:off x="6629400" y="3703320"/>
            <a:ext cx="2057400" cy="329184"/>
          </a:xfrm>
          <a:prstGeom prst="roundRect">
            <a:avLst>
              <a:gd name="adj" fmla="val 22222"/>
            </a:avLst>
          </a:prstGeom>
          <a:solidFill>
            <a:srgbClr val="0E9F7A"/>
          </a:solidFill>
          <a:ln w="12700">
            <a:solidFill>
              <a:srgbClr val="0E9F7A"/>
            </a:solidFill>
            <a:prstDash val="solid"/>
          </a:ln>
        </p:spPr>
      </p:sp>
      <p:sp>
        <p:nvSpPr>
          <p:cNvPr id="16" name="Text 14"/>
          <p:cNvSpPr txBox="1"/>
          <p:nvPr/>
        </p:nvSpPr>
        <p:spPr>
          <a:xfrm>
            <a:off x="6629400" y="3703320"/>
            <a:ext cx="20574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OpenAI Codex CLI</a:t>
            </a:r>
            <a:endParaRPr lang="en-US" sz="1200" dirty="0"/>
          </a:p>
        </p:txBody>
      </p:sp>
      <p:sp>
        <p:nvSpPr>
          <p:cNvPr id="17" name="Text 15"/>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出典：[6][8]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F2A93B"/>
                </a:solidFill>
                <a:latin typeface="Courier New" pitchFamily="34" charset="0"/>
                <a:ea typeface="Courier New" pitchFamily="34" charset="-122"/>
                <a:cs typeface="Courier New" pitchFamily="34" charset="-120"/>
              </a:rPr>
              <a:t>02</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スラッシュコマンドを支える技術基盤</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Model Context Protocol と コンテキストエンジニアリング</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Model Context Protocol (MCP)</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7</a:t>
            </a:r>
            <a:endParaRPr lang="en-US" sz="800" dirty="0"/>
          </a:p>
        </p:txBody>
      </p:sp>
      <p:sp>
        <p:nvSpPr>
          <p:cNvPr id="5" name="Shape 3"/>
          <p:cNvSpPr/>
          <p:nvPr/>
        </p:nvSpPr>
        <p:spPr>
          <a:xfrm>
            <a:off x="457200" y="1097280"/>
            <a:ext cx="1737360" cy="457200"/>
          </a:xfrm>
          <a:prstGeom prst="roundRect">
            <a:avLst>
              <a:gd name="adj" fmla="val 20000"/>
            </a:avLst>
          </a:prstGeom>
          <a:solidFill>
            <a:srgbClr val="F1F3F7"/>
          </a:solidFill>
          <a:ln w="12700">
            <a:solidFill>
              <a:srgbClr val="F1F3F7"/>
            </a:solidFill>
            <a:prstDash val="solid"/>
          </a:ln>
        </p:spPr>
      </p:sp>
      <p:sp>
        <p:nvSpPr>
          <p:cNvPr id="6" name="Text 4"/>
          <p:cNvSpPr txBox="1"/>
          <p:nvPr/>
        </p:nvSpPr>
        <p:spPr>
          <a:xfrm>
            <a:off x="457200" y="1097280"/>
            <a:ext cx="1737360" cy="457200"/>
          </a:xfrm>
          <a:prstGeom prst="rect">
            <a:avLst/>
          </a:prstGeom>
          <a:noFill/>
          <a:ln/>
        </p:spPr>
        <p:txBody>
          <a:bodyPr wrap="square" lIns="0" tIns="0" rIns="0" bIns="0" rtlCol="0" anchor="ctr"/>
          <a:lstStyle/>
          <a:p>
            <a:pPr algn="ctr" indent="0" marL="0">
              <a:buNone/>
            </a:pPr>
            <a:r>
              <a:rPr lang="en-US" sz="1200" b="1" dirty="0">
                <a:solidFill>
                  <a:srgbClr val="1F2430"/>
                </a:solidFill>
                <a:latin typeface="Yu Gothic" pitchFamily="34" charset="0"/>
                <a:ea typeface="Yu Gothic" pitchFamily="34" charset="-122"/>
                <a:cs typeface="Yu Gothic" pitchFamily="34" charset="-120"/>
              </a:rPr>
              <a:t>Slack</a:t>
            </a:r>
            <a:endParaRPr lang="en-US" sz="1200" dirty="0"/>
          </a:p>
        </p:txBody>
      </p:sp>
      <p:sp>
        <p:nvSpPr>
          <p:cNvPr id="7" name="Shape 5"/>
          <p:cNvSpPr/>
          <p:nvPr/>
        </p:nvSpPr>
        <p:spPr>
          <a:xfrm>
            <a:off x="457200" y="1664208"/>
            <a:ext cx="1737360" cy="457200"/>
          </a:xfrm>
          <a:prstGeom prst="roundRect">
            <a:avLst>
              <a:gd name="adj" fmla="val 20000"/>
            </a:avLst>
          </a:prstGeom>
          <a:solidFill>
            <a:srgbClr val="F1F3F7"/>
          </a:solidFill>
          <a:ln w="12700">
            <a:solidFill>
              <a:srgbClr val="F1F3F7"/>
            </a:solidFill>
            <a:prstDash val="solid"/>
          </a:ln>
        </p:spPr>
      </p:sp>
      <p:sp>
        <p:nvSpPr>
          <p:cNvPr id="8" name="Text 6"/>
          <p:cNvSpPr txBox="1"/>
          <p:nvPr/>
        </p:nvSpPr>
        <p:spPr>
          <a:xfrm>
            <a:off x="457200" y="1664208"/>
            <a:ext cx="1737360" cy="457200"/>
          </a:xfrm>
          <a:prstGeom prst="rect">
            <a:avLst/>
          </a:prstGeom>
          <a:noFill/>
          <a:ln/>
        </p:spPr>
        <p:txBody>
          <a:bodyPr wrap="square" lIns="0" tIns="0" rIns="0" bIns="0" rtlCol="0" anchor="ctr"/>
          <a:lstStyle/>
          <a:p>
            <a:pPr algn="ctr" indent="0" marL="0">
              <a:buNone/>
            </a:pPr>
            <a:r>
              <a:rPr lang="en-US" sz="1200" b="1" dirty="0">
                <a:solidFill>
                  <a:srgbClr val="1F2430"/>
                </a:solidFill>
                <a:latin typeface="Yu Gothic" pitchFamily="34" charset="0"/>
                <a:ea typeface="Yu Gothic" pitchFamily="34" charset="-122"/>
                <a:cs typeface="Yu Gothic" pitchFamily="34" charset="-120"/>
              </a:rPr>
              <a:t>BigQuery</a:t>
            </a:r>
            <a:endParaRPr lang="en-US" sz="1200" dirty="0"/>
          </a:p>
        </p:txBody>
      </p:sp>
      <p:sp>
        <p:nvSpPr>
          <p:cNvPr id="9" name="Shape 7"/>
          <p:cNvSpPr/>
          <p:nvPr/>
        </p:nvSpPr>
        <p:spPr>
          <a:xfrm>
            <a:off x="457200" y="2231136"/>
            <a:ext cx="1737360" cy="457200"/>
          </a:xfrm>
          <a:prstGeom prst="roundRect">
            <a:avLst>
              <a:gd name="adj" fmla="val 20000"/>
            </a:avLst>
          </a:prstGeom>
          <a:solidFill>
            <a:srgbClr val="F1F3F7"/>
          </a:solidFill>
          <a:ln w="12700">
            <a:solidFill>
              <a:srgbClr val="F1F3F7"/>
            </a:solidFill>
            <a:prstDash val="solid"/>
          </a:ln>
        </p:spPr>
      </p:sp>
      <p:sp>
        <p:nvSpPr>
          <p:cNvPr id="10" name="Text 8"/>
          <p:cNvSpPr txBox="1"/>
          <p:nvPr/>
        </p:nvSpPr>
        <p:spPr>
          <a:xfrm>
            <a:off x="457200" y="2231136"/>
            <a:ext cx="1737360" cy="457200"/>
          </a:xfrm>
          <a:prstGeom prst="rect">
            <a:avLst/>
          </a:prstGeom>
          <a:noFill/>
          <a:ln/>
        </p:spPr>
        <p:txBody>
          <a:bodyPr wrap="square" lIns="0" tIns="0" rIns="0" bIns="0" rtlCol="0" anchor="ctr"/>
          <a:lstStyle/>
          <a:p>
            <a:pPr algn="ctr" indent="0" marL="0">
              <a:buNone/>
            </a:pPr>
            <a:r>
              <a:rPr lang="en-US" sz="1200" b="1" dirty="0">
                <a:solidFill>
                  <a:srgbClr val="1F2430"/>
                </a:solidFill>
                <a:latin typeface="Yu Gothic" pitchFamily="34" charset="0"/>
                <a:ea typeface="Yu Gothic" pitchFamily="34" charset="-122"/>
                <a:cs typeface="Yu Gothic" pitchFamily="34" charset="-120"/>
              </a:rPr>
              <a:t>社内データ基盤</a:t>
            </a:r>
            <a:endParaRPr lang="en-US" sz="1200" dirty="0"/>
          </a:p>
        </p:txBody>
      </p:sp>
      <p:sp>
        <p:nvSpPr>
          <p:cNvPr id="11" name="Text 9"/>
          <p:cNvSpPr txBox="1"/>
          <p:nvPr/>
        </p:nvSpPr>
        <p:spPr>
          <a:xfrm>
            <a:off x="457200" y="2788920"/>
            <a:ext cx="1737360" cy="274320"/>
          </a:xfrm>
          <a:prstGeom prst="rect">
            <a:avLst/>
          </a:prstGeom>
          <a:noFill/>
          <a:ln/>
        </p:spPr>
        <p:txBody>
          <a:bodyPr wrap="square" lIns="0" tIns="0" rIns="0" bIns="0" rtlCol="0" anchor="t"/>
          <a:lstStyle/>
          <a:p>
            <a:pPr algn="ctr" indent="0" marL="0">
              <a:buNone/>
            </a:pPr>
            <a:r>
              <a:rPr lang="en-US" sz="1100" dirty="0">
                <a:solidFill>
                  <a:srgbClr val="5B6475"/>
                </a:solidFill>
                <a:latin typeface="Yu Gothic" pitchFamily="34" charset="0"/>
                <a:ea typeface="Yu Gothic" pitchFamily="34" charset="-122"/>
                <a:cs typeface="Yu Gothic" pitchFamily="34" charset="-120"/>
              </a:rPr>
              <a:t>MCPサーバー</a:t>
            </a:r>
            <a:endParaRPr lang="en-US" sz="1100" dirty="0"/>
          </a:p>
        </p:txBody>
      </p:sp>
      <p:sp>
        <p:nvSpPr>
          <p:cNvPr id="12" name="Shape 10"/>
          <p:cNvSpPr/>
          <p:nvPr/>
        </p:nvSpPr>
        <p:spPr>
          <a:xfrm>
            <a:off x="2331720" y="1691640"/>
            <a:ext cx="548640" cy="365760"/>
          </a:xfrm>
          <a:prstGeom prst="rightArrow">
            <a:avLst/>
          </a:prstGeom>
          <a:solidFill>
            <a:srgbClr val="5B6475"/>
          </a:solidFill>
          <a:ln w="12700">
            <a:solidFill>
              <a:srgbClr val="5B6475"/>
            </a:solidFill>
            <a:prstDash val="solid"/>
          </a:ln>
        </p:spPr>
      </p:sp>
      <p:sp>
        <p:nvSpPr>
          <p:cNvPr id="13" name="Shape 11"/>
          <p:cNvSpPr/>
          <p:nvPr/>
        </p:nvSpPr>
        <p:spPr>
          <a:xfrm>
            <a:off x="2971800" y="1691640"/>
            <a:ext cx="1600200" cy="365760"/>
          </a:xfrm>
          <a:prstGeom prst="roundRect">
            <a:avLst>
              <a:gd name="adj" fmla="val 20000"/>
            </a:avLst>
          </a:prstGeom>
          <a:solidFill>
            <a:srgbClr val="161B26"/>
          </a:solidFill>
          <a:ln w="12700">
            <a:solidFill>
              <a:srgbClr val="161B26"/>
            </a:solidFill>
            <a:prstDash val="solid"/>
          </a:ln>
        </p:spPr>
      </p:sp>
      <p:sp>
        <p:nvSpPr>
          <p:cNvPr id="14" name="Text 12"/>
          <p:cNvSpPr txBox="1"/>
          <p:nvPr/>
        </p:nvSpPr>
        <p:spPr>
          <a:xfrm>
            <a:off x="2971800" y="1691640"/>
            <a:ext cx="1600200" cy="365760"/>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prompts/list</a:t>
            </a:r>
            <a:endParaRPr lang="en-US" sz="1200" dirty="0"/>
          </a:p>
        </p:txBody>
      </p:sp>
      <p:sp>
        <p:nvSpPr>
          <p:cNvPr id="15" name="Shape 13"/>
          <p:cNvSpPr/>
          <p:nvPr/>
        </p:nvSpPr>
        <p:spPr>
          <a:xfrm>
            <a:off x="4709160" y="1691640"/>
            <a:ext cx="548640" cy="365760"/>
          </a:xfrm>
          <a:prstGeom prst="rightArrow">
            <a:avLst/>
          </a:prstGeom>
          <a:solidFill>
            <a:srgbClr val="5B6475"/>
          </a:solidFill>
          <a:ln w="12700">
            <a:solidFill>
              <a:srgbClr val="5B6475"/>
            </a:solidFill>
            <a:prstDash val="solid"/>
          </a:ln>
        </p:spPr>
      </p:sp>
      <p:sp>
        <p:nvSpPr>
          <p:cNvPr id="16" name="Shape 14"/>
          <p:cNvSpPr/>
          <p:nvPr/>
        </p:nvSpPr>
        <p:spPr>
          <a:xfrm>
            <a:off x="5394960" y="1097280"/>
            <a:ext cx="3291840" cy="1645920"/>
          </a:xfrm>
          <a:prstGeom prst="roundRect">
            <a:avLst>
              <a:gd name="adj" fmla="val 5556"/>
            </a:avLst>
          </a:prstGeom>
          <a:solidFill>
            <a:srgbClr val="161B26"/>
          </a:solidFill>
          <a:ln w="12700">
            <a:solidFill>
              <a:srgbClr val="161B26"/>
            </a:solidFill>
            <a:prstDash val="solid"/>
          </a:ln>
        </p:spPr>
      </p:sp>
      <p:sp>
        <p:nvSpPr>
          <p:cNvPr id="17" name="Text 15"/>
          <p:cNvSpPr txBox="1"/>
          <p:nvPr/>
        </p:nvSpPr>
        <p:spPr>
          <a:xfrm>
            <a:off x="5577840" y="1188720"/>
            <a:ext cx="2926080" cy="320040"/>
          </a:xfrm>
          <a:prstGeom prst="rect">
            <a:avLst/>
          </a:prstGeom>
          <a:noFill/>
          <a:ln/>
        </p:spPr>
        <p:txBody>
          <a:bodyPr wrap="square" lIns="0" tIns="0" rIns="0" bIns="0" rtlCol="0" anchor="t"/>
          <a:lstStyle/>
          <a:p>
            <a:pPr indent="0" marL="0">
              <a:buNone/>
            </a:pPr>
            <a:r>
              <a:rPr lang="en-US" sz="1200" b="1" dirty="0">
                <a:solidFill>
                  <a:srgbClr val="FFFFFF"/>
                </a:solidFill>
                <a:latin typeface="Yu Gothic" pitchFamily="34" charset="0"/>
                <a:ea typeface="Yu Gothic" pitchFamily="34" charset="-122"/>
                <a:cs typeface="Yu Gothic" pitchFamily="34" charset="-120"/>
              </a:rPr>
              <a:t>エージェントの / メニュー</a:t>
            </a:r>
            <a:endParaRPr lang="en-US" sz="1200" dirty="0"/>
          </a:p>
        </p:txBody>
      </p:sp>
      <p:sp>
        <p:nvSpPr>
          <p:cNvPr id="18" name="Text 16"/>
          <p:cNvSpPr txBox="1"/>
          <p:nvPr/>
        </p:nvSpPr>
        <p:spPr>
          <a:xfrm>
            <a:off x="5577840" y="1572768"/>
            <a:ext cx="2926080" cy="1005840"/>
          </a:xfrm>
          <a:prstGeom prst="rect">
            <a:avLst/>
          </a:prstGeom>
          <a:noFill/>
          <a:ln/>
        </p:spPr>
        <p:txBody>
          <a:bodyPr wrap="square" lIns="0" tIns="0" rIns="0" bIns="0" rtlCol="0" anchor="t"/>
          <a:lstStyle/>
          <a:p>
            <a:pPr indent="0" marL="0">
              <a:lnSpc>
                <a:spcPct val="120000"/>
              </a:lnSpc>
              <a:buNone/>
            </a:pPr>
            <a:r>
              <a:rPr lang="en-US" sz="1200" dirty="0">
                <a:solidFill>
                  <a:srgbClr val="F2A93B"/>
                </a:solidFill>
                <a:latin typeface="Courier New" pitchFamily="34" charset="0"/>
                <a:ea typeface="Courier New" pitchFamily="34" charset="-122"/>
                <a:cs typeface="Courier New" pitchFamily="34" charset="-120"/>
              </a:rPr>
              <a:t>/slack-summary</a:t>
            </a:r>
            <a:endParaRPr lang="en-US" sz="1200" dirty="0"/>
          </a:p>
          <a:p>
            <a:pPr indent="0" marL="0">
              <a:lnSpc>
                <a:spcPct val="120000"/>
              </a:lnSpc>
              <a:buNone/>
            </a:pPr>
            <a:r>
              <a:rPr lang="en-US" sz="1200" dirty="0">
                <a:solidFill>
                  <a:srgbClr val="F2A93B"/>
                </a:solidFill>
                <a:latin typeface="Courier New" pitchFamily="34" charset="0"/>
                <a:ea typeface="Courier New" pitchFamily="34" charset="-122"/>
                <a:cs typeface="Courier New" pitchFamily="34" charset="-120"/>
              </a:rPr>
              <a:t>/bq-query</a:t>
            </a:r>
            <a:endParaRPr lang="en-US" sz="1200" dirty="0"/>
          </a:p>
          <a:p>
            <a:pPr indent="0" marL="0">
              <a:lnSpc>
                <a:spcPct val="120000"/>
              </a:lnSpc>
              <a:buNone/>
            </a:pPr>
            <a:r>
              <a:rPr lang="en-US" sz="1200" dirty="0">
                <a:solidFill>
                  <a:srgbClr val="F2A93B"/>
                </a:solidFill>
                <a:latin typeface="Courier New" pitchFamily="34" charset="0"/>
                <a:ea typeface="Courier New" pitchFamily="34" charset="-122"/>
                <a:cs typeface="Courier New" pitchFamily="34" charset="-120"/>
              </a:rPr>
              <a:t>/internal-report</a:t>
            </a:r>
            <a:endParaRPr lang="en-US" sz="1200" dirty="0"/>
          </a:p>
        </p:txBody>
      </p:sp>
      <p:sp>
        <p:nvSpPr>
          <p:cNvPr id="19" name="Text 17"/>
          <p:cNvSpPr txBox="1"/>
          <p:nvPr/>
        </p:nvSpPr>
        <p:spPr>
          <a:xfrm>
            <a:off x="5394960" y="2788920"/>
            <a:ext cx="3291840" cy="274320"/>
          </a:xfrm>
          <a:prstGeom prst="rect">
            <a:avLst/>
          </a:prstGeom>
          <a:noFill/>
          <a:ln/>
        </p:spPr>
        <p:txBody>
          <a:bodyPr wrap="square" lIns="0" tIns="0" rIns="0" bIns="0" rtlCol="0" anchor="t"/>
          <a:lstStyle/>
          <a:p>
            <a:pPr algn="ctr" indent="0" marL="0">
              <a:buNone/>
            </a:pPr>
            <a:r>
              <a:rPr lang="en-US" sz="900" dirty="0">
                <a:solidFill>
                  <a:srgbClr val="5B6475"/>
                </a:solidFill>
                <a:latin typeface="Yu Gothic" pitchFamily="34" charset="0"/>
                <a:ea typeface="Yu Gothic" pitchFamily="34" charset="-122"/>
                <a:cs typeface="Yu Gothic" pitchFamily="34" charset="-120"/>
              </a:rPr>
              <a:t>（コマンド名は説明用の例）</a:t>
            </a:r>
            <a:endParaRPr lang="en-US" sz="900" dirty="0"/>
          </a:p>
        </p:txBody>
      </p:sp>
      <p:sp>
        <p:nvSpPr>
          <p:cNvPr id="20" name="Text 18"/>
          <p:cNvSpPr txBox="1"/>
          <p:nvPr/>
        </p:nvSpPr>
        <p:spPr>
          <a:xfrm>
            <a:off x="457200" y="3200400"/>
            <a:ext cx="8229600" cy="14630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2024年後半にAnthropicが提唱した、JSON-RPCベースのオープンスタンダード。「AIのためのUSB-C」[3][11]</a:t>
            </a:r>
            <a:endParaRPr lang="en-US" sz="1300" dirty="0"/>
          </a:p>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スラッシュコマンドは、MCPの Prompts プリミティブのUIとしての側面を持つ [4]</a:t>
            </a:r>
            <a:endParaRPr lang="en-US" sz="1300" dirty="0"/>
          </a:p>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MCPサーバーを接続した瞬間、それを操作する専用コマンドが自動で使えるようになる [3]</a:t>
            </a:r>
            <a:endParaRPr lang="en-US" sz="1300" dirty="0"/>
          </a:p>
        </p:txBody>
      </p:sp>
      <p:sp>
        <p:nvSpPr>
          <p:cNvPr id="21" name="Text 19"/>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出典：[3][4][11]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トークン爆発とコンテキストエンジニアリング</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8</a:t>
            </a:r>
            <a:endParaRPr lang="en-US" sz="800" dirty="0"/>
          </a:p>
        </p:txBody>
      </p:sp>
      <p:sp>
        <p:nvSpPr>
          <p:cNvPr id="5" name="Shape 3"/>
          <p:cNvSpPr/>
          <p:nvPr/>
        </p:nvSpPr>
        <p:spPr>
          <a:xfrm>
            <a:off x="457200" y="1051560"/>
            <a:ext cx="3977640" cy="3566160"/>
          </a:xfrm>
          <a:prstGeom prst="roundRect">
            <a:avLst>
              <a:gd name="adj" fmla="val 2564"/>
            </a:avLst>
          </a:prstGeom>
          <a:solidFill>
            <a:srgbClr val="F1F3F7"/>
          </a:solidFill>
          <a:ln w="12700">
            <a:solidFill>
              <a:srgbClr val="F1F3F7"/>
            </a:solidFill>
            <a:prstDash val="solid"/>
          </a:ln>
        </p:spPr>
      </p:sp>
      <p:sp>
        <p:nvSpPr>
          <p:cNvPr id="6" name="Text 4"/>
          <p:cNvSpPr txBox="1"/>
          <p:nvPr/>
        </p:nvSpPr>
        <p:spPr>
          <a:xfrm>
            <a:off x="685800" y="1188720"/>
            <a:ext cx="3566160" cy="365760"/>
          </a:xfrm>
          <a:prstGeom prst="rect">
            <a:avLst/>
          </a:prstGeom>
          <a:noFill/>
          <a:ln/>
        </p:spPr>
        <p:txBody>
          <a:bodyPr wrap="square" lIns="0" tIns="0" rIns="0" bIns="0" rtlCol="0" anchor="t"/>
          <a:lstStyle/>
          <a:p>
            <a:pPr indent="0" marL="0">
              <a:buNone/>
            </a:pPr>
            <a:r>
              <a:rPr lang="en-US" sz="1600" b="1" dirty="0">
                <a:solidFill>
                  <a:srgbClr val="D64545"/>
                </a:solidFill>
                <a:latin typeface="Yu Gothic" pitchFamily="34" charset="0"/>
                <a:ea typeface="Yu Gothic" pitchFamily="34" charset="-122"/>
                <a:cs typeface="Yu Gothic" pitchFamily="34" charset="-120"/>
              </a:rPr>
              <a:t>課題：トークン爆発</a:t>
            </a:r>
            <a:endParaRPr lang="en-US" sz="1600" dirty="0"/>
          </a:p>
        </p:txBody>
      </p:sp>
      <p:sp>
        <p:nvSpPr>
          <p:cNvPr id="7" name="Text 5"/>
          <p:cNvSpPr txBox="1"/>
          <p:nvPr/>
        </p:nvSpPr>
        <p:spPr>
          <a:xfrm>
            <a:off x="685800" y="1645920"/>
            <a:ext cx="3566160" cy="685800"/>
          </a:xfrm>
          <a:prstGeom prst="rect">
            <a:avLst/>
          </a:prstGeom>
          <a:noFill/>
          <a:ln/>
        </p:spPr>
        <p:txBody>
          <a:bodyPr wrap="square" lIns="0" tIns="0" rIns="0" bIns="0" rtlCol="0" anchor="t"/>
          <a:lstStyle/>
          <a:p>
            <a:pPr indent="0" marL="0">
              <a:buNone/>
            </a:pPr>
            <a:r>
              <a:rPr lang="en-US" sz="4000" b="1" dirty="0">
                <a:solidFill>
                  <a:srgbClr val="D64545"/>
                </a:solidFill>
                <a:latin typeface="Arial" pitchFamily="34" charset="0"/>
                <a:ea typeface="Arial" pitchFamily="34" charset="-122"/>
                <a:cs typeface="Arial" pitchFamily="34" charset="-120"/>
              </a:rPr>
              <a:t>150〜400</a:t>
            </a:r>
            <a:endParaRPr lang="en-US" sz="4000" dirty="0"/>
          </a:p>
        </p:txBody>
      </p:sp>
      <p:sp>
        <p:nvSpPr>
          <p:cNvPr id="8" name="Text 6"/>
          <p:cNvSpPr txBox="1"/>
          <p:nvPr/>
        </p:nvSpPr>
        <p:spPr>
          <a:xfrm>
            <a:off x="685800" y="2331720"/>
            <a:ext cx="3566160" cy="27432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ツール定義1つあたりのトークン数</a:t>
            </a:r>
            <a:endParaRPr lang="en-US" sz="1200" dirty="0"/>
          </a:p>
        </p:txBody>
      </p:sp>
      <p:sp>
        <p:nvSpPr>
          <p:cNvPr id="9" name="Text 7"/>
          <p:cNvSpPr txBox="1"/>
          <p:nvPr/>
        </p:nvSpPr>
        <p:spPr>
          <a:xfrm>
            <a:off x="685800" y="2788920"/>
            <a:ext cx="3566160" cy="17373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20個のツールで数千〜数万トークンを消費する</a:t>
            </a:r>
            <a:endParaRPr lang="en-US" sz="1300" dirty="0"/>
          </a:p>
          <a:p>
            <a:pPr marL="203200" indent="-203200">
              <a:spcAft>
                <a:spcPts val="600"/>
              </a:spcAft>
              <a:buSzPct val="100000"/>
              <a:buChar char="•"/>
            </a:pPr>
            <a:r>
              <a:rPr lang="en-US" sz="1300" dirty="0">
                <a:solidFill>
                  <a:srgbClr val="1F2430"/>
                </a:solidFill>
                <a:latin typeface="Yu Gothic" pitchFamily="34" charset="0"/>
                <a:ea typeface="Yu Gothic" pitchFamily="34" charset="-122"/>
                <a:cs typeface="Yu Gothic" pitchFamily="34" charset="-120"/>
              </a:rPr>
              <a:t>注意機構が散漫になり、ツールの誤選択、ハルシネーション、Context Rotが起こる</a:t>
            </a:r>
            <a:endParaRPr lang="en-US" sz="1300" dirty="0"/>
          </a:p>
        </p:txBody>
      </p:sp>
      <p:sp>
        <p:nvSpPr>
          <p:cNvPr id="10" name="Shape 8"/>
          <p:cNvSpPr/>
          <p:nvPr/>
        </p:nvSpPr>
        <p:spPr>
          <a:xfrm>
            <a:off x="4709160" y="1051560"/>
            <a:ext cx="3977640" cy="3566160"/>
          </a:xfrm>
          <a:prstGeom prst="roundRect">
            <a:avLst>
              <a:gd name="adj" fmla="val 2564"/>
            </a:avLst>
          </a:prstGeom>
          <a:solidFill>
            <a:srgbClr val="161B26"/>
          </a:solidFill>
          <a:ln w="12700">
            <a:solidFill>
              <a:srgbClr val="161B26"/>
            </a:solidFill>
            <a:prstDash val="solid"/>
          </a:ln>
        </p:spPr>
      </p:sp>
      <p:sp>
        <p:nvSpPr>
          <p:cNvPr id="11" name="Text 9"/>
          <p:cNvSpPr txBox="1"/>
          <p:nvPr/>
        </p:nvSpPr>
        <p:spPr>
          <a:xfrm>
            <a:off x="4937760" y="1188720"/>
            <a:ext cx="3566160" cy="365760"/>
          </a:xfrm>
          <a:prstGeom prst="rect">
            <a:avLst/>
          </a:prstGeom>
          <a:noFill/>
          <a:ln/>
        </p:spPr>
        <p:txBody>
          <a:bodyPr wrap="square" lIns="0" tIns="0" rIns="0" bIns="0" rtlCol="0" anchor="t"/>
          <a:lstStyle/>
          <a:p>
            <a:pPr indent="0" marL="0">
              <a:buNone/>
            </a:pPr>
            <a:r>
              <a:rPr lang="en-US" sz="1600" b="1" dirty="0">
                <a:solidFill>
                  <a:srgbClr val="6FD3A8"/>
                </a:solidFill>
                <a:latin typeface="Yu Gothic" pitchFamily="34" charset="0"/>
                <a:ea typeface="Yu Gothic" pitchFamily="34" charset="-122"/>
                <a:cs typeface="Yu Gothic" pitchFamily="34" charset="-120"/>
              </a:rPr>
              <a:t>解決策：遅延読み込み</a:t>
            </a:r>
            <a:endParaRPr lang="en-US" sz="1600" dirty="0"/>
          </a:p>
        </p:txBody>
      </p:sp>
      <p:sp>
        <p:nvSpPr>
          <p:cNvPr id="12" name="Shape 10"/>
          <p:cNvSpPr/>
          <p:nvPr/>
        </p:nvSpPr>
        <p:spPr>
          <a:xfrm>
            <a:off x="4937760" y="1691640"/>
            <a:ext cx="1188720" cy="329184"/>
          </a:xfrm>
          <a:prstGeom prst="roundRect">
            <a:avLst>
              <a:gd name="adj" fmla="val 22222"/>
            </a:avLst>
          </a:prstGeom>
          <a:solidFill>
            <a:srgbClr val="232A38"/>
          </a:solidFill>
          <a:ln w="12700">
            <a:solidFill>
              <a:srgbClr val="232A38"/>
            </a:solidFill>
            <a:prstDash val="solid"/>
          </a:ln>
        </p:spPr>
      </p:sp>
      <p:sp>
        <p:nvSpPr>
          <p:cNvPr id="13" name="Text 11"/>
          <p:cNvSpPr txBox="1"/>
          <p:nvPr/>
        </p:nvSpPr>
        <p:spPr>
          <a:xfrm>
            <a:off x="4937760" y="1691640"/>
            <a:ext cx="118872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/review</a:t>
            </a:r>
            <a:endParaRPr lang="en-US" sz="1200" dirty="0"/>
          </a:p>
        </p:txBody>
      </p:sp>
      <p:sp>
        <p:nvSpPr>
          <p:cNvPr id="14" name="Shape 12"/>
          <p:cNvSpPr/>
          <p:nvPr/>
        </p:nvSpPr>
        <p:spPr>
          <a:xfrm>
            <a:off x="6263640" y="1691640"/>
            <a:ext cx="1005840" cy="329184"/>
          </a:xfrm>
          <a:prstGeom prst="roundRect">
            <a:avLst>
              <a:gd name="adj" fmla="val 22222"/>
            </a:avLst>
          </a:prstGeom>
          <a:solidFill>
            <a:srgbClr val="232A38"/>
          </a:solidFill>
          <a:ln w="12700">
            <a:solidFill>
              <a:srgbClr val="232A38"/>
            </a:solidFill>
            <a:prstDash val="solid"/>
          </a:ln>
        </p:spPr>
      </p:sp>
      <p:sp>
        <p:nvSpPr>
          <p:cNvPr id="15" name="Text 13"/>
          <p:cNvSpPr txBox="1"/>
          <p:nvPr/>
        </p:nvSpPr>
        <p:spPr>
          <a:xfrm>
            <a:off x="6263640" y="1691640"/>
            <a:ext cx="100584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/plan</a:t>
            </a:r>
            <a:endParaRPr lang="en-US" sz="1200" dirty="0"/>
          </a:p>
        </p:txBody>
      </p:sp>
      <p:sp>
        <p:nvSpPr>
          <p:cNvPr id="16" name="Text 14"/>
          <p:cNvSpPr txBox="1"/>
          <p:nvPr/>
        </p:nvSpPr>
        <p:spPr>
          <a:xfrm>
            <a:off x="4937760" y="2148840"/>
            <a:ext cx="3566160" cy="548640"/>
          </a:xfrm>
          <a:prstGeom prst="rect">
            <a:avLst/>
          </a:prstGeom>
          <a:noFill/>
          <a:ln/>
        </p:spPr>
        <p:txBody>
          <a:bodyPr wrap="square" lIns="0" tIns="0" rIns="0" bIns="0" rtlCol="0" anchor="t"/>
          <a:lstStyle/>
          <a:p>
            <a:pPr indent="0" marL="0">
              <a:buNone/>
            </a:pPr>
            <a:r>
              <a:rPr lang="en-US" sz="1300" dirty="0">
                <a:solidFill>
                  <a:srgbClr val="FFFFFF"/>
                </a:solidFill>
                <a:latin typeface="Yu Gothic" pitchFamily="34" charset="0"/>
                <a:ea typeface="Yu Gothic" pitchFamily="34" charset="-122"/>
                <a:cs typeface="Yu Gothic" pitchFamily="34" charset="-120"/>
              </a:rPr>
              <a:t>呼び出した瞬間だけ、必要なツールと指示文を注入する</a:t>
            </a:r>
            <a:endParaRPr lang="en-US" sz="1300" dirty="0"/>
          </a:p>
        </p:txBody>
      </p:sp>
      <p:sp>
        <p:nvSpPr>
          <p:cNvPr id="17" name="Text 15"/>
          <p:cNvSpPr txBox="1"/>
          <p:nvPr/>
        </p:nvSpPr>
        <p:spPr>
          <a:xfrm>
            <a:off x="4937760" y="2834640"/>
            <a:ext cx="3566160" cy="16459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C9D0DD"/>
                </a:solidFill>
                <a:latin typeface="Yu Gothic" pitchFamily="34" charset="0"/>
                <a:ea typeface="Yu Gothic" pitchFamily="34" charset="-122"/>
                <a:cs typeface="Yu Gothic" pitchFamily="34" charset="-120"/>
              </a:rPr>
              <a:t>最小十分なコンテキスト（Minimal Sufficiency）</a:t>
            </a:r>
            <a:endParaRPr lang="en-US" sz="1300" dirty="0"/>
          </a:p>
          <a:p>
            <a:pPr marL="203200" indent="-203200">
              <a:spcAft>
                <a:spcPts val="600"/>
              </a:spcAft>
              <a:buSzPct val="100000"/>
              <a:buChar char="•"/>
            </a:pPr>
            <a:r>
              <a:rPr lang="en-US" sz="1300" dirty="0">
                <a:solidFill>
                  <a:srgbClr val="C9D0DD"/>
                </a:solidFill>
                <a:latin typeface="Yu Gothic" pitchFamily="34" charset="0"/>
                <a:ea typeface="Yu Gothic" pitchFamily="34" charset="-122"/>
                <a:cs typeface="Yu Gothic" pitchFamily="34" charset="-120"/>
              </a:rPr>
              <a:t>推論精度が上がり、レイテンシが大きく下がる</a:t>
            </a:r>
            <a:endParaRPr lang="en-US" sz="1300" dirty="0"/>
          </a:p>
        </p:txBody>
      </p:sp>
      <p:sp>
        <p:nvSpPr>
          <p:cNvPr id="18" name="Text 16"/>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C96442"/>
                </a:solidFill>
                <a:latin typeface="Courier New" pitchFamily="34" charset="0"/>
                <a:ea typeface="Courier New" pitchFamily="34" charset="-122"/>
                <a:cs typeface="Courier New" pitchFamily="34" charset="-120"/>
              </a:rPr>
              <a:t>03</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Claude Code</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深層推論と柔軟なMarkdownベースの拡張性</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Claude Code の概要</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10</a:t>
            </a:r>
            <a:endParaRPr lang="en-US" sz="800" dirty="0"/>
          </a:p>
        </p:txBody>
      </p:sp>
      <p:sp>
        <p:nvSpPr>
          <p:cNvPr id="5" name="Text 3"/>
          <p:cNvSpPr txBox="1"/>
          <p:nvPr/>
        </p:nvSpPr>
        <p:spPr>
          <a:xfrm>
            <a:off x="457200" y="1005840"/>
            <a:ext cx="8229600" cy="548640"/>
          </a:xfrm>
          <a:prstGeom prst="rect">
            <a:avLst/>
          </a:prstGeom>
          <a:noFill/>
          <a:ln/>
        </p:spPr>
        <p:txBody>
          <a:bodyPr wrap="square" lIns="0" tIns="0" rIns="0" bIns="0" rtlCol="0" anchor="t"/>
          <a:lstStyle/>
          <a:p>
            <a:pPr indent="0" marL="0">
              <a:buNone/>
            </a:pPr>
            <a:r>
              <a:rPr lang="en-US" sz="1400" dirty="0">
                <a:solidFill>
                  <a:srgbClr val="1F2430"/>
                </a:solidFill>
                <a:latin typeface="Yu Gothic" pitchFamily="34" charset="0"/>
                <a:ea typeface="Yu Gothic" pitchFamily="34" charset="-122"/>
                <a:cs typeface="Yu Gothic" pitchFamily="34" charset="-120"/>
              </a:rPr>
              <a:t>深い推論（Deep Reasoning）に最適化されたCLIエージェント。Claude Pro／Maxのサブスクリプションに含まれる [18]</a:t>
            </a:r>
            <a:endParaRPr lang="en-US" sz="1400" dirty="0"/>
          </a:p>
        </p:txBody>
      </p:sp>
      <p:sp>
        <p:nvSpPr>
          <p:cNvPr id="6" name="Shape 4"/>
          <p:cNvSpPr/>
          <p:nvPr/>
        </p:nvSpPr>
        <p:spPr>
          <a:xfrm>
            <a:off x="457200" y="1783080"/>
            <a:ext cx="2615184" cy="2194560"/>
          </a:xfrm>
          <a:prstGeom prst="roundRect">
            <a:avLst>
              <a:gd name="adj" fmla="val 4167"/>
            </a:avLst>
          </a:prstGeom>
          <a:solidFill>
            <a:srgbClr val="F1F3F7"/>
          </a:solidFill>
          <a:ln w="12700">
            <a:solidFill>
              <a:srgbClr val="F1F3F7"/>
            </a:solidFill>
            <a:prstDash val="solid"/>
          </a:ln>
        </p:spPr>
      </p:sp>
      <p:sp>
        <p:nvSpPr>
          <p:cNvPr id="7" name="Text 5"/>
          <p:cNvSpPr txBox="1"/>
          <p:nvPr/>
        </p:nvSpPr>
        <p:spPr>
          <a:xfrm>
            <a:off x="685800" y="1965960"/>
            <a:ext cx="2194560" cy="868680"/>
          </a:xfrm>
          <a:prstGeom prst="rect">
            <a:avLst/>
          </a:prstGeom>
          <a:noFill/>
          <a:ln/>
        </p:spPr>
        <p:txBody>
          <a:bodyPr wrap="square" lIns="0" tIns="0" rIns="0" bIns="0" rtlCol="0" anchor="t"/>
          <a:lstStyle/>
          <a:p>
            <a:pPr indent="0" marL="0">
              <a:buNone/>
            </a:pPr>
            <a:r>
              <a:rPr lang="en-US" sz="4400" b="1" dirty="0">
                <a:solidFill>
                  <a:srgbClr val="C96442"/>
                </a:solidFill>
                <a:latin typeface="Arial" pitchFamily="34" charset="0"/>
                <a:ea typeface="Arial" pitchFamily="34" charset="-122"/>
                <a:cs typeface="Arial" pitchFamily="34" charset="-120"/>
              </a:rPr>
              <a:t>100万</a:t>
            </a:r>
            <a:endParaRPr lang="en-US" sz="4400" dirty="0"/>
          </a:p>
        </p:txBody>
      </p:sp>
      <p:sp>
        <p:nvSpPr>
          <p:cNvPr id="8" name="Text 6"/>
          <p:cNvSpPr txBox="1"/>
          <p:nvPr/>
        </p:nvSpPr>
        <p:spPr>
          <a:xfrm>
            <a:off x="685800" y="2926080"/>
            <a:ext cx="2194560" cy="82296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トークンの</a:t>
            </a:r>
            <a:endParaRPr lang="en-US" sz="1300" dirty="0"/>
          </a:p>
          <a:p>
            <a:pPr indent="0" marL="0">
              <a:buNone/>
            </a:pPr>
            <a:r>
              <a:rPr lang="en-US" sz="1300" dirty="0">
                <a:solidFill>
                  <a:srgbClr val="5B6475"/>
                </a:solidFill>
                <a:latin typeface="Yu Gothic" pitchFamily="34" charset="0"/>
                <a:ea typeface="Yu Gothic" pitchFamily="34" charset="-122"/>
                <a:cs typeface="Yu Gothic" pitchFamily="34" charset="-120"/>
              </a:rPr>
              <a:t>コンテキストウィンドウ</a:t>
            </a:r>
            <a:endParaRPr lang="en-US" sz="1300" dirty="0"/>
          </a:p>
        </p:txBody>
      </p:sp>
      <p:sp>
        <p:nvSpPr>
          <p:cNvPr id="9" name="Shape 7"/>
          <p:cNvSpPr/>
          <p:nvPr/>
        </p:nvSpPr>
        <p:spPr>
          <a:xfrm>
            <a:off x="3264408" y="1783080"/>
            <a:ext cx="2615184" cy="2194560"/>
          </a:xfrm>
          <a:prstGeom prst="roundRect">
            <a:avLst>
              <a:gd name="adj" fmla="val 4167"/>
            </a:avLst>
          </a:prstGeom>
          <a:solidFill>
            <a:srgbClr val="F1F3F7"/>
          </a:solidFill>
          <a:ln w="12700">
            <a:solidFill>
              <a:srgbClr val="F1F3F7"/>
            </a:solidFill>
            <a:prstDash val="solid"/>
          </a:ln>
        </p:spPr>
      </p:sp>
      <p:sp>
        <p:nvSpPr>
          <p:cNvPr id="10" name="Text 8"/>
          <p:cNvSpPr txBox="1"/>
          <p:nvPr/>
        </p:nvSpPr>
        <p:spPr>
          <a:xfrm>
            <a:off x="3493008" y="1965960"/>
            <a:ext cx="2194560" cy="868680"/>
          </a:xfrm>
          <a:prstGeom prst="rect">
            <a:avLst/>
          </a:prstGeom>
          <a:noFill/>
          <a:ln/>
        </p:spPr>
        <p:txBody>
          <a:bodyPr wrap="square" lIns="0" tIns="0" rIns="0" bIns="0" rtlCol="0" anchor="t"/>
          <a:lstStyle/>
          <a:p>
            <a:pPr indent="0" marL="0">
              <a:buNone/>
            </a:pPr>
            <a:r>
              <a:rPr lang="en-US" sz="4400" b="1" dirty="0">
                <a:solidFill>
                  <a:srgbClr val="C96442"/>
                </a:solidFill>
                <a:latin typeface="Arial" pitchFamily="34" charset="0"/>
                <a:ea typeface="Arial" pitchFamily="34" charset="-122"/>
                <a:cs typeface="Arial" pitchFamily="34" charset="-120"/>
              </a:rPr>
              <a:t>60+</a:t>
            </a:r>
            <a:endParaRPr lang="en-US" sz="4400" dirty="0"/>
          </a:p>
        </p:txBody>
      </p:sp>
      <p:sp>
        <p:nvSpPr>
          <p:cNvPr id="11" name="Text 9"/>
          <p:cNvSpPr txBox="1"/>
          <p:nvPr/>
        </p:nvSpPr>
        <p:spPr>
          <a:xfrm>
            <a:off x="3493008" y="2926080"/>
            <a:ext cx="2194560" cy="82296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組み込み</a:t>
            </a:r>
            <a:endParaRPr lang="en-US" sz="1300" dirty="0"/>
          </a:p>
          <a:p>
            <a:pPr indent="0" marL="0">
              <a:buNone/>
            </a:pPr>
            <a:r>
              <a:rPr lang="en-US" sz="1300" dirty="0">
                <a:solidFill>
                  <a:srgbClr val="5B6475"/>
                </a:solidFill>
                <a:latin typeface="Yu Gothic" pitchFamily="34" charset="0"/>
                <a:ea typeface="Yu Gothic" pitchFamily="34" charset="-122"/>
                <a:cs typeface="Yu Gothic" pitchFamily="34" charset="-120"/>
              </a:rPr>
              <a:t>スラッシュコマンド [9]</a:t>
            </a:r>
            <a:endParaRPr lang="en-US" sz="1300" dirty="0"/>
          </a:p>
        </p:txBody>
      </p:sp>
      <p:sp>
        <p:nvSpPr>
          <p:cNvPr id="12" name="Shape 10"/>
          <p:cNvSpPr/>
          <p:nvPr/>
        </p:nvSpPr>
        <p:spPr>
          <a:xfrm>
            <a:off x="6071616" y="1783080"/>
            <a:ext cx="2615184" cy="2194560"/>
          </a:xfrm>
          <a:prstGeom prst="roundRect">
            <a:avLst>
              <a:gd name="adj" fmla="val 4167"/>
            </a:avLst>
          </a:prstGeom>
          <a:solidFill>
            <a:srgbClr val="F1F3F7"/>
          </a:solidFill>
          <a:ln w="12700">
            <a:solidFill>
              <a:srgbClr val="F1F3F7"/>
            </a:solidFill>
            <a:prstDash val="solid"/>
          </a:ln>
        </p:spPr>
      </p:sp>
      <p:sp>
        <p:nvSpPr>
          <p:cNvPr id="13" name="Text 11"/>
          <p:cNvSpPr txBox="1"/>
          <p:nvPr/>
        </p:nvSpPr>
        <p:spPr>
          <a:xfrm>
            <a:off x="6300216" y="1965960"/>
            <a:ext cx="2194560" cy="868680"/>
          </a:xfrm>
          <a:prstGeom prst="rect">
            <a:avLst/>
          </a:prstGeom>
          <a:noFill/>
          <a:ln/>
        </p:spPr>
        <p:txBody>
          <a:bodyPr wrap="square" lIns="0" tIns="0" rIns="0" bIns="0" rtlCol="0" anchor="t"/>
          <a:lstStyle/>
          <a:p>
            <a:pPr indent="0" marL="0">
              <a:buNone/>
            </a:pPr>
            <a:r>
              <a:rPr lang="en-US" sz="4400" b="1" dirty="0">
                <a:solidFill>
                  <a:srgbClr val="C96442"/>
                </a:solidFill>
                <a:latin typeface="Arial" pitchFamily="34" charset="0"/>
                <a:ea typeface="Arial" pitchFamily="34" charset="-122"/>
                <a:cs typeface="Arial" pitchFamily="34" charset="-120"/>
              </a:rPr>
              <a:t>OS</a:t>
            </a:r>
            <a:endParaRPr lang="en-US" sz="4400" dirty="0"/>
          </a:p>
        </p:txBody>
      </p:sp>
      <p:sp>
        <p:nvSpPr>
          <p:cNvPr id="14" name="Text 12"/>
          <p:cNvSpPr txBox="1"/>
          <p:nvPr/>
        </p:nvSpPr>
        <p:spPr>
          <a:xfrm>
            <a:off x="6300216" y="2926080"/>
            <a:ext cx="2194560" cy="82296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レベルのサンドボックスと</a:t>
            </a:r>
            <a:endParaRPr lang="en-US" sz="1300" dirty="0"/>
          </a:p>
          <a:p>
            <a:pPr indent="0" marL="0">
              <a:buNone/>
            </a:pPr>
            <a:r>
              <a:rPr lang="en-US" sz="1300" dirty="0">
                <a:solidFill>
                  <a:srgbClr val="5B6475"/>
                </a:solidFill>
                <a:latin typeface="Yu Gothic" pitchFamily="34" charset="0"/>
                <a:ea typeface="Yu Gothic" pitchFamily="34" charset="-122"/>
                <a:cs typeface="Yu Gothic" pitchFamily="34" charset="-120"/>
              </a:rPr>
              <a:t>破壊的コマンドの承認フロー</a:t>
            </a:r>
            <a:endParaRPr lang="en-US" sz="1300" dirty="0"/>
          </a:p>
        </p:txBody>
      </p:sp>
      <p:sp>
        <p:nvSpPr>
          <p:cNvPr id="15" name="Text 13"/>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大規模なリファクタリングや複雑なバグ調査で高い能力を発揮する</a:t>
            </a:r>
            <a:endParaRPr lang="en-US" sz="1300" dirty="0"/>
          </a:p>
        </p:txBody>
      </p:sp>
      <p:sp>
        <p:nvSpPr>
          <p:cNvPr id="16" name="Text 14"/>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出典：[9][18]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Claude Code の主要な組み込みコマンド</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737360"/>
                <a:gridCol w="1371600"/>
                <a:gridCol w="5120640"/>
              </a:tblGrid>
              <a:tr h="301752">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コマンド</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カテゴリ</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役割</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/compact [指示]</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コンテキスト管理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会話履歴を要約・圧縮し、重要な決定事項を維持する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/branch [名前]</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コンテキスト管理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別スレッドにフォークしてメインを解放する（/fork, /bg）</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/clear</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コンテキスト管理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履歴をクリアする（/resume で復帰できる）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/rewind</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コンテキスト管理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以前のチェックポイントへ巻き戻す</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/review [PR]</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コードレビュー</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マルチエージェントでPRをレビューする（深いレビューは /ultrareview）</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/security-review</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コードレビュー</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未コミット変更をセキュリティの観点で分析する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/plan [説明]</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バンドルスキル</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調査・要件定義・実装計画を行うプランモードに入る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/batch &lt;指示&gt;</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バンドルスキル</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5〜30ユニットに分解し、並列エージェントで処理する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/simplify</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バンドルスキル</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3エージェントで並列レビューし、コードを単純化する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/btw &lt;質問&gt;</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ユーティリティ</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メインの文脈を汚さずにちょっとした質問をする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C96442"/>
                          </a:solidFill>
                          <a:latin typeface="Courier New" pitchFamily="34" charset="0"/>
                          <a:ea typeface="Courier New" pitchFamily="34" charset="-122"/>
                          <a:cs typeface="Courier New" pitchFamily="34" charset="-120"/>
                        </a:rPr>
                        <a:t>/hooks</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設定と管理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自動実行されるHooksの設定を確認・管理する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bl>
          </a:graphicData>
        </a:graphic>
      </p:graphicFrame>
      <p:sp>
        <p:nvSpPr>
          <p:cNvPr id="6" name="Text 3"/>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出典：[6][8][9]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カスタムコマンドの構築</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12</a:t>
            </a:r>
            <a:endParaRPr lang="en-US" sz="800" dirty="0"/>
          </a:p>
        </p:txBody>
      </p:sp>
      <p:sp>
        <p:nvSpPr>
          <p:cNvPr id="5" name="Shape 3"/>
          <p:cNvSpPr/>
          <p:nvPr/>
        </p:nvSpPr>
        <p:spPr>
          <a:xfrm>
            <a:off x="457200" y="1005840"/>
            <a:ext cx="3291840" cy="3611880"/>
          </a:xfrm>
          <a:prstGeom prst="roundRect">
            <a:avLst>
              <a:gd name="adj" fmla="val 2778"/>
            </a:avLst>
          </a:prstGeom>
          <a:solidFill>
            <a:srgbClr val="161B26"/>
          </a:solidFill>
          <a:ln w="12700">
            <a:solidFill>
              <a:srgbClr val="161B26"/>
            </a:solidFill>
            <a:prstDash val="solid"/>
          </a:ln>
        </p:spPr>
      </p:sp>
      <p:sp>
        <p:nvSpPr>
          <p:cNvPr id="6" name="Text 4"/>
          <p:cNvSpPr txBox="1"/>
          <p:nvPr/>
        </p:nvSpPr>
        <p:spPr>
          <a:xfrm>
            <a:off x="640080" y="1097280"/>
            <a:ext cx="2926080" cy="32004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fix-issue.md</a:t>
            </a:r>
            <a:endParaRPr lang="en-US" sz="1200" dirty="0"/>
          </a:p>
        </p:txBody>
      </p:sp>
      <p:sp>
        <p:nvSpPr>
          <p:cNvPr id="7" name="Text 5"/>
          <p:cNvSpPr txBox="1"/>
          <p:nvPr/>
        </p:nvSpPr>
        <p:spPr>
          <a:xfrm>
            <a:off x="640080" y="1463040"/>
            <a:ext cx="3017520" cy="2103120"/>
          </a:xfrm>
          <a:prstGeom prst="rect">
            <a:avLst/>
          </a:prstGeom>
          <a:noFill/>
          <a:ln/>
        </p:spPr>
        <p:txBody>
          <a:bodyPr wrap="square" lIns="0" tIns="0" rIns="0" bIns="0" rtlCol="0" anchor="t"/>
          <a:lstStyle/>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allowed-tools: Bash(git:*)</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argument-hint: [issue番号]</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!gh issue view $ARGUMENTS</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@CONTRIBUTING.md</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Issueを修正してください</a:t>
            </a:r>
            <a:endParaRPr lang="en-US" sz="1100" dirty="0"/>
          </a:p>
        </p:txBody>
      </p:sp>
      <p:sp>
        <p:nvSpPr>
          <p:cNvPr id="8" name="Text 6"/>
          <p:cNvSpPr txBox="1"/>
          <p:nvPr/>
        </p:nvSpPr>
        <p:spPr>
          <a:xfrm>
            <a:off x="640080" y="3657600"/>
            <a:ext cx="3017520" cy="320040"/>
          </a:xfrm>
          <a:prstGeom prst="rect">
            <a:avLst/>
          </a:prstGeom>
          <a:noFill/>
          <a:ln/>
        </p:spPr>
        <p:txBody>
          <a:bodyPr wrap="square" lIns="0" tIns="0" rIns="0" bIns="0" rtlCol="0" anchor="t"/>
          <a:lstStyle/>
          <a:p>
            <a:pPr indent="0" marL="0">
              <a:buNone/>
            </a:pPr>
            <a:r>
              <a:rPr lang="en-US" sz="1200" b="1" dirty="0">
                <a:solidFill>
                  <a:srgbClr val="FFFFFF"/>
                </a:solidFill>
                <a:latin typeface="Yu Gothic" pitchFamily="34" charset="0"/>
                <a:ea typeface="Yu Gothic" pitchFamily="34" charset="-122"/>
                <a:cs typeface="Yu Gothic" pitchFamily="34" charset="-120"/>
              </a:rPr>
              <a:t>→ /fix-issue 123 で呼び出す</a:t>
            </a:r>
            <a:endParaRPr lang="en-US" sz="1200" dirty="0"/>
          </a:p>
        </p:txBody>
      </p:sp>
      <p:sp>
        <p:nvSpPr>
          <p:cNvPr id="9" name="Text 7"/>
          <p:cNvSpPr txBox="1"/>
          <p:nvPr/>
        </p:nvSpPr>
        <p:spPr>
          <a:xfrm>
            <a:off x="640080" y="4023360"/>
            <a:ext cx="3017520" cy="502920"/>
          </a:xfrm>
          <a:prstGeom prst="rect">
            <a:avLst/>
          </a:prstGeom>
          <a:noFill/>
          <a:ln/>
        </p:spPr>
        <p:txBody>
          <a:bodyPr wrap="square" lIns="0" tIns="0" rIns="0" bIns="0" rtlCol="0" anchor="t"/>
          <a:lstStyle/>
          <a:p>
            <a:pPr indent="0" marL="0">
              <a:buNone/>
            </a:pPr>
            <a:r>
              <a:rPr lang="en-US" sz="1000" dirty="0">
                <a:solidFill>
                  <a:srgbClr val="AEB6C6"/>
                </a:solidFill>
                <a:latin typeface="Yu Gothic" pitchFamily="34" charset="0"/>
                <a:ea typeface="Yu Gothic" pitchFamily="34" charset="-122"/>
                <a:cs typeface="Yu Gothic" pitchFamily="34" charset="-120"/>
              </a:rPr>
              <a:t>置き場所：.claude/commands/ または ~/.claude/commands/</a:t>
            </a:r>
            <a:endParaRPr lang="en-US" sz="1000" dirty="0"/>
          </a:p>
        </p:txBody>
      </p:sp>
      <p:sp>
        <p:nvSpPr>
          <p:cNvPr id="10" name="Shape 8"/>
          <p:cNvSpPr/>
          <p:nvPr/>
        </p:nvSpPr>
        <p:spPr>
          <a:xfrm>
            <a:off x="3977640" y="1005840"/>
            <a:ext cx="2240280" cy="1719072"/>
          </a:xfrm>
          <a:prstGeom prst="roundRect">
            <a:avLst>
              <a:gd name="adj" fmla="val 5319"/>
            </a:avLst>
          </a:prstGeom>
          <a:solidFill>
            <a:srgbClr val="F1F3F7"/>
          </a:solidFill>
          <a:ln w="12700">
            <a:solidFill>
              <a:srgbClr val="F1F3F7"/>
            </a:solidFill>
            <a:prstDash val="solid"/>
          </a:ln>
        </p:spPr>
      </p:sp>
      <p:sp>
        <p:nvSpPr>
          <p:cNvPr id="11" name="Text 9"/>
          <p:cNvSpPr txBox="1"/>
          <p:nvPr/>
        </p:nvSpPr>
        <p:spPr>
          <a:xfrm>
            <a:off x="4160520" y="1143000"/>
            <a:ext cx="365760" cy="365760"/>
          </a:xfrm>
          <a:prstGeom prst="rect">
            <a:avLst/>
          </a:prstGeom>
          <a:noFill/>
          <a:ln/>
        </p:spPr>
        <p:txBody>
          <a:bodyPr wrap="square" lIns="0" tIns="0" rIns="0" bIns="0" rtlCol="0" anchor="t"/>
          <a:lstStyle/>
          <a:p>
            <a:pPr indent="0" marL="0">
              <a:buNone/>
            </a:pPr>
            <a:r>
              <a:rPr lang="en-US" sz="2000" b="1" dirty="0">
                <a:solidFill>
                  <a:srgbClr val="C96442"/>
                </a:solidFill>
                <a:latin typeface="Courier New" pitchFamily="34" charset="0"/>
                <a:ea typeface="Courier New" pitchFamily="34" charset="-122"/>
                <a:cs typeface="Courier New" pitchFamily="34" charset="-120"/>
              </a:rPr>
              <a:t>1</a:t>
            </a:r>
            <a:endParaRPr lang="en-US" sz="2000" dirty="0"/>
          </a:p>
        </p:txBody>
      </p:sp>
      <p:sp>
        <p:nvSpPr>
          <p:cNvPr id="12" name="Text 10"/>
          <p:cNvSpPr txBox="1"/>
          <p:nvPr/>
        </p:nvSpPr>
        <p:spPr>
          <a:xfrm>
            <a:off x="4160520" y="1536192"/>
            <a:ext cx="1920240" cy="3200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YAMLフロントマター</a:t>
            </a:r>
            <a:endParaRPr lang="en-US" sz="1300" dirty="0"/>
          </a:p>
        </p:txBody>
      </p:sp>
      <p:sp>
        <p:nvSpPr>
          <p:cNvPr id="13" name="Text 11"/>
          <p:cNvSpPr txBox="1"/>
          <p:nvPr/>
        </p:nvSpPr>
        <p:spPr>
          <a:xfrm>
            <a:off x="4160520" y="1874520"/>
            <a:ext cx="1920240" cy="77724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allowed-tools で使えるツールを制限し、argument-hint で入力補助を出す [7]</a:t>
            </a:r>
            <a:endParaRPr lang="en-US" sz="1050" dirty="0"/>
          </a:p>
        </p:txBody>
      </p:sp>
      <p:sp>
        <p:nvSpPr>
          <p:cNvPr id="14" name="Shape 12"/>
          <p:cNvSpPr/>
          <p:nvPr/>
        </p:nvSpPr>
        <p:spPr>
          <a:xfrm>
            <a:off x="6355080" y="1005840"/>
            <a:ext cx="2240280" cy="1719072"/>
          </a:xfrm>
          <a:prstGeom prst="roundRect">
            <a:avLst>
              <a:gd name="adj" fmla="val 5319"/>
            </a:avLst>
          </a:prstGeom>
          <a:solidFill>
            <a:srgbClr val="F1F3F7"/>
          </a:solidFill>
          <a:ln w="12700">
            <a:solidFill>
              <a:srgbClr val="F1F3F7"/>
            </a:solidFill>
            <a:prstDash val="solid"/>
          </a:ln>
        </p:spPr>
      </p:sp>
      <p:sp>
        <p:nvSpPr>
          <p:cNvPr id="15" name="Text 13"/>
          <p:cNvSpPr txBox="1"/>
          <p:nvPr/>
        </p:nvSpPr>
        <p:spPr>
          <a:xfrm>
            <a:off x="6537960" y="1143000"/>
            <a:ext cx="365760" cy="365760"/>
          </a:xfrm>
          <a:prstGeom prst="rect">
            <a:avLst/>
          </a:prstGeom>
          <a:noFill/>
          <a:ln/>
        </p:spPr>
        <p:txBody>
          <a:bodyPr wrap="square" lIns="0" tIns="0" rIns="0" bIns="0" rtlCol="0" anchor="t"/>
          <a:lstStyle/>
          <a:p>
            <a:pPr indent="0" marL="0">
              <a:buNone/>
            </a:pPr>
            <a:r>
              <a:rPr lang="en-US" sz="2000" b="1" dirty="0">
                <a:solidFill>
                  <a:srgbClr val="C96442"/>
                </a:solidFill>
                <a:latin typeface="Courier New" pitchFamily="34" charset="0"/>
                <a:ea typeface="Courier New" pitchFamily="34" charset="-122"/>
                <a:cs typeface="Courier New" pitchFamily="34" charset="-120"/>
              </a:rPr>
              <a:t>2</a:t>
            </a:r>
            <a:endParaRPr lang="en-US" sz="2000" dirty="0"/>
          </a:p>
        </p:txBody>
      </p:sp>
      <p:sp>
        <p:nvSpPr>
          <p:cNvPr id="16" name="Text 14"/>
          <p:cNvSpPr txBox="1"/>
          <p:nvPr/>
        </p:nvSpPr>
        <p:spPr>
          <a:xfrm>
            <a:off x="6537960" y="1536192"/>
            <a:ext cx="1920240" cy="3200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引数の展開</a:t>
            </a:r>
            <a:endParaRPr lang="en-US" sz="1300" dirty="0"/>
          </a:p>
        </p:txBody>
      </p:sp>
      <p:sp>
        <p:nvSpPr>
          <p:cNvPr id="17" name="Text 15"/>
          <p:cNvSpPr txBox="1"/>
          <p:nvPr/>
        </p:nvSpPr>
        <p:spPr>
          <a:xfrm>
            <a:off x="6537960" y="1874520"/>
            <a:ext cx="1920240" cy="77724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入力した文字列を $ARGUMENTS に展開する [6]</a:t>
            </a:r>
            <a:endParaRPr lang="en-US" sz="1050" dirty="0"/>
          </a:p>
        </p:txBody>
      </p:sp>
      <p:sp>
        <p:nvSpPr>
          <p:cNvPr id="18" name="Shape 16"/>
          <p:cNvSpPr/>
          <p:nvPr/>
        </p:nvSpPr>
        <p:spPr>
          <a:xfrm>
            <a:off x="3977640" y="2852928"/>
            <a:ext cx="2240280" cy="1719072"/>
          </a:xfrm>
          <a:prstGeom prst="roundRect">
            <a:avLst>
              <a:gd name="adj" fmla="val 5319"/>
            </a:avLst>
          </a:prstGeom>
          <a:solidFill>
            <a:srgbClr val="F1F3F7"/>
          </a:solidFill>
          <a:ln w="12700">
            <a:solidFill>
              <a:srgbClr val="F1F3F7"/>
            </a:solidFill>
            <a:prstDash val="solid"/>
          </a:ln>
        </p:spPr>
      </p:sp>
      <p:sp>
        <p:nvSpPr>
          <p:cNvPr id="19" name="Text 17"/>
          <p:cNvSpPr txBox="1"/>
          <p:nvPr/>
        </p:nvSpPr>
        <p:spPr>
          <a:xfrm>
            <a:off x="4160520" y="2990088"/>
            <a:ext cx="365760" cy="365760"/>
          </a:xfrm>
          <a:prstGeom prst="rect">
            <a:avLst/>
          </a:prstGeom>
          <a:noFill/>
          <a:ln/>
        </p:spPr>
        <p:txBody>
          <a:bodyPr wrap="square" lIns="0" tIns="0" rIns="0" bIns="0" rtlCol="0" anchor="t"/>
          <a:lstStyle/>
          <a:p>
            <a:pPr indent="0" marL="0">
              <a:buNone/>
            </a:pPr>
            <a:r>
              <a:rPr lang="en-US" sz="2000" b="1" dirty="0">
                <a:solidFill>
                  <a:srgbClr val="C96442"/>
                </a:solidFill>
                <a:latin typeface="Courier New" pitchFamily="34" charset="0"/>
                <a:ea typeface="Courier New" pitchFamily="34" charset="-122"/>
                <a:cs typeface="Courier New" pitchFamily="34" charset="-120"/>
              </a:rPr>
              <a:t>3</a:t>
            </a:r>
            <a:endParaRPr lang="en-US" sz="2000" dirty="0"/>
          </a:p>
        </p:txBody>
      </p:sp>
      <p:sp>
        <p:nvSpPr>
          <p:cNvPr id="20" name="Text 18"/>
          <p:cNvSpPr txBox="1"/>
          <p:nvPr/>
        </p:nvSpPr>
        <p:spPr>
          <a:xfrm>
            <a:off x="4160520" y="3383280"/>
            <a:ext cx="1920240" cy="3200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シェルの事前実行</a:t>
            </a:r>
            <a:endParaRPr lang="en-US" sz="1300" dirty="0"/>
          </a:p>
        </p:txBody>
      </p:sp>
      <p:sp>
        <p:nvSpPr>
          <p:cNvPr id="21" name="Text 19"/>
          <p:cNvSpPr txBox="1"/>
          <p:nvPr/>
        </p:nvSpPr>
        <p:spPr>
          <a:xfrm>
            <a:off x="4160520" y="3721608"/>
            <a:ext cx="1920240" cy="77724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行頭の ! でBashを実行し、その出力をコンテキストに挿入する [7]</a:t>
            </a:r>
            <a:endParaRPr lang="en-US" sz="1050" dirty="0"/>
          </a:p>
        </p:txBody>
      </p:sp>
      <p:sp>
        <p:nvSpPr>
          <p:cNvPr id="22" name="Shape 20"/>
          <p:cNvSpPr/>
          <p:nvPr/>
        </p:nvSpPr>
        <p:spPr>
          <a:xfrm>
            <a:off x="6355080" y="2852928"/>
            <a:ext cx="2240280" cy="1719072"/>
          </a:xfrm>
          <a:prstGeom prst="roundRect">
            <a:avLst>
              <a:gd name="adj" fmla="val 5319"/>
            </a:avLst>
          </a:prstGeom>
          <a:solidFill>
            <a:srgbClr val="F1F3F7"/>
          </a:solidFill>
          <a:ln w="12700">
            <a:solidFill>
              <a:srgbClr val="F1F3F7"/>
            </a:solidFill>
            <a:prstDash val="solid"/>
          </a:ln>
        </p:spPr>
      </p:sp>
      <p:sp>
        <p:nvSpPr>
          <p:cNvPr id="23" name="Text 21"/>
          <p:cNvSpPr txBox="1"/>
          <p:nvPr/>
        </p:nvSpPr>
        <p:spPr>
          <a:xfrm>
            <a:off x="6537960" y="2990088"/>
            <a:ext cx="365760" cy="365760"/>
          </a:xfrm>
          <a:prstGeom prst="rect">
            <a:avLst/>
          </a:prstGeom>
          <a:noFill/>
          <a:ln/>
        </p:spPr>
        <p:txBody>
          <a:bodyPr wrap="square" lIns="0" tIns="0" rIns="0" bIns="0" rtlCol="0" anchor="t"/>
          <a:lstStyle/>
          <a:p>
            <a:pPr indent="0" marL="0">
              <a:buNone/>
            </a:pPr>
            <a:r>
              <a:rPr lang="en-US" sz="2000" b="1" dirty="0">
                <a:solidFill>
                  <a:srgbClr val="C96442"/>
                </a:solidFill>
                <a:latin typeface="Courier New" pitchFamily="34" charset="0"/>
                <a:ea typeface="Courier New" pitchFamily="34" charset="-122"/>
                <a:cs typeface="Courier New" pitchFamily="34" charset="-120"/>
              </a:rPr>
              <a:t>4</a:t>
            </a:r>
            <a:endParaRPr lang="en-US" sz="2000" dirty="0"/>
          </a:p>
        </p:txBody>
      </p:sp>
      <p:sp>
        <p:nvSpPr>
          <p:cNvPr id="24" name="Text 22"/>
          <p:cNvSpPr txBox="1"/>
          <p:nvPr/>
        </p:nvSpPr>
        <p:spPr>
          <a:xfrm>
            <a:off x="6537960" y="3383280"/>
            <a:ext cx="1920240" cy="3200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ファイル参照</a:t>
            </a:r>
            <a:endParaRPr lang="en-US" sz="1300" dirty="0"/>
          </a:p>
        </p:txBody>
      </p:sp>
      <p:sp>
        <p:nvSpPr>
          <p:cNvPr id="25" name="Text 23"/>
          <p:cNvSpPr txBox="1"/>
          <p:nvPr/>
        </p:nvSpPr>
        <p:spPr>
          <a:xfrm>
            <a:off x="6537960" y="3721608"/>
            <a:ext cx="1920240" cy="77724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@パス でファイルの内容をプロンプトに展開する [7]</a:t>
            </a:r>
            <a:endParaRPr lang="en-US" sz="1050" dirty="0"/>
          </a:p>
        </p:txBody>
      </p:sp>
      <p:sp>
        <p:nvSpPr>
          <p:cNvPr id="26" name="Text 24"/>
          <p:cNvSpPr txBox="1"/>
          <p:nvPr/>
        </p:nvSpPr>
        <p:spPr>
          <a:xfrm>
            <a:off x="457200" y="4663440"/>
            <a:ext cx="3291840" cy="201168"/>
          </a:xfrm>
          <a:prstGeom prst="rect">
            <a:avLst/>
          </a:prstGeom>
          <a:noFill/>
          <a:ln/>
        </p:spPr>
        <p:txBody>
          <a:bodyPr wrap="square" lIns="0" tIns="0" rIns="0" bIns="0" rtlCol="0" anchor="t"/>
          <a:lstStyle/>
          <a:p>
            <a:pPr algn="ctr" indent="0" marL="0">
              <a:buNone/>
            </a:pPr>
            <a:r>
              <a:rPr lang="en-US" sz="800" dirty="0">
                <a:solidFill>
                  <a:srgbClr val="5B6475"/>
                </a:solidFill>
                <a:latin typeface="Yu Gothic" pitchFamily="34" charset="0"/>
                <a:ea typeface="Yu Gothic" pitchFamily="34" charset="-122"/>
                <a:cs typeface="Yu Gothic" pitchFamily="34" charset="-120"/>
              </a:rPr>
              <a:t>（左のファイルは説明用の例）</a:t>
            </a:r>
            <a:endParaRPr lang="en-US" sz="800" dirty="0"/>
          </a:p>
        </p:txBody>
      </p:sp>
      <p:sp>
        <p:nvSpPr>
          <p:cNvPr id="27" name="Text 25"/>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出典：[6][7]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コマンド駆動からスキル駆動へ</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13</a:t>
            </a:r>
            <a:endParaRPr lang="en-US" sz="800" dirty="0"/>
          </a:p>
        </p:txBody>
      </p:sp>
      <p:sp>
        <p:nvSpPr>
          <p:cNvPr id="5" name="Shape 3"/>
          <p:cNvSpPr/>
          <p:nvPr/>
        </p:nvSpPr>
        <p:spPr>
          <a:xfrm>
            <a:off x="457200" y="1188720"/>
            <a:ext cx="3566160" cy="2377440"/>
          </a:xfrm>
          <a:prstGeom prst="roundRect">
            <a:avLst>
              <a:gd name="adj" fmla="val 3846"/>
            </a:avLst>
          </a:prstGeom>
          <a:solidFill>
            <a:srgbClr val="F1F3F7"/>
          </a:solidFill>
          <a:ln w="12700">
            <a:solidFill>
              <a:srgbClr val="F1F3F7"/>
            </a:solidFill>
            <a:prstDash val="solid"/>
          </a:ln>
        </p:spPr>
      </p:sp>
      <p:sp>
        <p:nvSpPr>
          <p:cNvPr id="6" name="Text 4"/>
          <p:cNvSpPr txBox="1"/>
          <p:nvPr/>
        </p:nvSpPr>
        <p:spPr>
          <a:xfrm>
            <a:off x="685800" y="1325880"/>
            <a:ext cx="3108960" cy="27432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従来</a:t>
            </a:r>
            <a:endParaRPr lang="en-US" sz="1200" dirty="0"/>
          </a:p>
        </p:txBody>
      </p:sp>
      <p:sp>
        <p:nvSpPr>
          <p:cNvPr id="7" name="Shape 5"/>
          <p:cNvSpPr/>
          <p:nvPr/>
        </p:nvSpPr>
        <p:spPr>
          <a:xfrm>
            <a:off x="685800" y="1691640"/>
            <a:ext cx="3108960" cy="329184"/>
          </a:xfrm>
          <a:prstGeom prst="roundRect">
            <a:avLst>
              <a:gd name="adj" fmla="val 22222"/>
            </a:avLst>
          </a:prstGeom>
          <a:solidFill>
            <a:srgbClr val="161B26"/>
          </a:solidFill>
          <a:ln w="12700">
            <a:solidFill>
              <a:srgbClr val="161B26"/>
            </a:solidFill>
            <a:prstDash val="solid"/>
          </a:ln>
        </p:spPr>
      </p:sp>
      <p:sp>
        <p:nvSpPr>
          <p:cNvPr id="8" name="Text 6"/>
          <p:cNvSpPr txBox="1"/>
          <p:nvPr/>
        </p:nvSpPr>
        <p:spPr>
          <a:xfrm>
            <a:off x="685800" y="1691640"/>
            <a:ext cx="310896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.claude/commands/*.md</a:t>
            </a:r>
            <a:endParaRPr lang="en-US" sz="1200" dirty="0"/>
          </a:p>
        </p:txBody>
      </p:sp>
      <p:sp>
        <p:nvSpPr>
          <p:cNvPr id="9" name="Text 7"/>
          <p:cNvSpPr txBox="1"/>
          <p:nvPr/>
        </p:nvSpPr>
        <p:spPr>
          <a:xfrm>
            <a:off x="685800" y="2240280"/>
            <a:ext cx="3108960" cy="365760"/>
          </a:xfrm>
          <a:prstGeom prst="rect">
            <a:avLst/>
          </a:prstGeom>
          <a:noFill/>
          <a:ln/>
        </p:spPr>
        <p:txBody>
          <a:bodyPr wrap="square" lIns="0" tIns="0" rIns="0" bIns="0" rtlCol="0" anchor="t"/>
          <a:lstStyle/>
          <a:p>
            <a:pPr indent="0" marL="0">
              <a:buNone/>
            </a:pPr>
            <a:r>
              <a:rPr lang="en-US" sz="1400" dirty="0">
                <a:solidFill>
                  <a:srgbClr val="1F2430"/>
                </a:solidFill>
                <a:latin typeface="Yu Gothic" pitchFamily="34" charset="0"/>
                <a:ea typeface="Yu Gothic" pitchFamily="34" charset="-122"/>
                <a:cs typeface="Yu Gothic" pitchFamily="34" charset="-120"/>
              </a:rPr>
              <a:t>ユーザーが手動で呼び出す</a:t>
            </a:r>
            <a:endParaRPr lang="en-US" sz="1400" dirty="0"/>
          </a:p>
        </p:txBody>
      </p:sp>
      <p:sp>
        <p:nvSpPr>
          <p:cNvPr id="10" name="Text 8"/>
          <p:cNvSpPr txBox="1"/>
          <p:nvPr/>
        </p:nvSpPr>
        <p:spPr>
          <a:xfrm>
            <a:off x="685800" y="2697480"/>
            <a:ext cx="3108960" cy="457200"/>
          </a:xfrm>
          <a:prstGeom prst="rect">
            <a:avLst/>
          </a:prstGeom>
          <a:noFill/>
          <a:ln/>
        </p:spPr>
        <p:txBody>
          <a:bodyPr wrap="square" lIns="0" tIns="0" rIns="0" bIns="0" rtlCol="0" anchor="t"/>
          <a:lstStyle/>
          <a:p>
            <a:pPr indent="0" marL="0">
              <a:buNone/>
            </a:pPr>
            <a:r>
              <a:rPr lang="en-US" sz="2000" b="1" dirty="0">
                <a:solidFill>
                  <a:srgbClr val="1F2430"/>
                </a:solidFill>
                <a:latin typeface="Yu Gothic" pitchFamily="34" charset="0"/>
                <a:ea typeface="Yu Gothic" pitchFamily="34" charset="-122"/>
                <a:cs typeface="Yu Gothic" pitchFamily="34" charset="-120"/>
              </a:rPr>
              <a:t>「呼ばれたら動く」</a:t>
            </a:r>
            <a:endParaRPr lang="en-US" sz="2000" dirty="0"/>
          </a:p>
        </p:txBody>
      </p:sp>
      <p:sp>
        <p:nvSpPr>
          <p:cNvPr id="11" name="Shape 9"/>
          <p:cNvSpPr/>
          <p:nvPr/>
        </p:nvSpPr>
        <p:spPr>
          <a:xfrm>
            <a:off x="4160520" y="2194560"/>
            <a:ext cx="731520" cy="365760"/>
          </a:xfrm>
          <a:prstGeom prst="rightArrow">
            <a:avLst/>
          </a:prstGeom>
          <a:solidFill>
            <a:srgbClr val="C96442"/>
          </a:solidFill>
          <a:ln w="12700">
            <a:solidFill>
              <a:srgbClr val="C96442"/>
            </a:solidFill>
            <a:prstDash val="solid"/>
          </a:ln>
        </p:spPr>
      </p:sp>
      <p:sp>
        <p:nvSpPr>
          <p:cNvPr id="12" name="Shape 10"/>
          <p:cNvSpPr/>
          <p:nvPr/>
        </p:nvSpPr>
        <p:spPr>
          <a:xfrm>
            <a:off x="5029200" y="1188720"/>
            <a:ext cx="3657600" cy="2377440"/>
          </a:xfrm>
          <a:prstGeom prst="roundRect">
            <a:avLst>
              <a:gd name="adj" fmla="val 3846"/>
            </a:avLst>
          </a:prstGeom>
          <a:solidFill>
            <a:srgbClr val="161B26"/>
          </a:solidFill>
          <a:ln w="12700">
            <a:solidFill>
              <a:srgbClr val="161B26"/>
            </a:solidFill>
            <a:prstDash val="solid"/>
          </a:ln>
        </p:spPr>
      </p:sp>
      <p:sp>
        <p:nvSpPr>
          <p:cNvPr id="13" name="Text 11"/>
          <p:cNvSpPr txBox="1"/>
          <p:nvPr/>
        </p:nvSpPr>
        <p:spPr>
          <a:xfrm>
            <a:off x="5257800" y="1325880"/>
            <a:ext cx="3200400" cy="274320"/>
          </a:xfrm>
          <a:prstGeom prst="rect">
            <a:avLst/>
          </a:prstGeom>
          <a:noFill/>
          <a:ln/>
        </p:spPr>
        <p:txBody>
          <a:bodyPr wrap="square" lIns="0" tIns="0" rIns="0" bIns="0" rtlCol="0" anchor="t"/>
          <a:lstStyle/>
          <a:p>
            <a:pPr indent="0" marL="0">
              <a:buNone/>
            </a:pPr>
            <a:r>
              <a:rPr lang="en-US" sz="1200" dirty="0">
                <a:solidFill>
                  <a:srgbClr val="AEB6C6"/>
                </a:solidFill>
                <a:latin typeface="Yu Gothic" pitchFamily="34" charset="0"/>
                <a:ea typeface="Yu Gothic" pitchFamily="34" charset="-122"/>
                <a:cs typeface="Yu Gothic" pitchFamily="34" charset="-120"/>
              </a:rPr>
              <a:t>2026年の推奨</a:t>
            </a:r>
            <a:endParaRPr lang="en-US" sz="1200" dirty="0"/>
          </a:p>
        </p:txBody>
      </p:sp>
      <p:sp>
        <p:nvSpPr>
          <p:cNvPr id="14" name="Shape 12"/>
          <p:cNvSpPr/>
          <p:nvPr/>
        </p:nvSpPr>
        <p:spPr>
          <a:xfrm>
            <a:off x="5257800" y="1691640"/>
            <a:ext cx="3200400" cy="329184"/>
          </a:xfrm>
          <a:prstGeom prst="roundRect">
            <a:avLst>
              <a:gd name="adj" fmla="val 22222"/>
            </a:avLst>
          </a:prstGeom>
          <a:solidFill>
            <a:srgbClr val="232A38"/>
          </a:solidFill>
          <a:ln w="12700">
            <a:solidFill>
              <a:srgbClr val="232A38"/>
            </a:solidFill>
            <a:prstDash val="solid"/>
          </a:ln>
        </p:spPr>
      </p:sp>
      <p:sp>
        <p:nvSpPr>
          <p:cNvPr id="15" name="Text 13"/>
          <p:cNvSpPr txBox="1"/>
          <p:nvPr/>
        </p:nvSpPr>
        <p:spPr>
          <a:xfrm>
            <a:off x="5257800" y="1691640"/>
            <a:ext cx="320040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.claude/skills/SKILL.md</a:t>
            </a:r>
            <a:endParaRPr lang="en-US" sz="1200" dirty="0"/>
          </a:p>
        </p:txBody>
      </p:sp>
      <p:sp>
        <p:nvSpPr>
          <p:cNvPr id="16" name="Text 14"/>
          <p:cNvSpPr txBox="1"/>
          <p:nvPr/>
        </p:nvSpPr>
        <p:spPr>
          <a:xfrm>
            <a:off x="5257800" y="2240280"/>
            <a:ext cx="3200400" cy="365760"/>
          </a:xfrm>
          <a:prstGeom prst="rect">
            <a:avLst/>
          </a:prstGeom>
          <a:noFill/>
          <a:ln/>
        </p:spPr>
        <p:txBody>
          <a:bodyPr wrap="square" lIns="0" tIns="0" rIns="0" bIns="0" rtlCol="0" anchor="t"/>
          <a:lstStyle/>
          <a:p>
            <a:pPr indent="0" marL="0">
              <a:buNone/>
            </a:pPr>
            <a:r>
              <a:rPr lang="en-US" sz="1400" dirty="0">
                <a:solidFill>
                  <a:srgbClr val="FFFFFF"/>
                </a:solidFill>
                <a:latin typeface="Yu Gothic" pitchFamily="34" charset="0"/>
                <a:ea typeface="Yu Gothic" pitchFamily="34" charset="-122"/>
                <a:cs typeface="Yu Gothic" pitchFamily="34" charset="-120"/>
              </a:rPr>
              <a:t>AIが状況に応じて自律的に起動する</a:t>
            </a:r>
            <a:endParaRPr lang="en-US" sz="1400" dirty="0"/>
          </a:p>
        </p:txBody>
      </p:sp>
      <p:sp>
        <p:nvSpPr>
          <p:cNvPr id="17" name="Text 15"/>
          <p:cNvSpPr txBox="1"/>
          <p:nvPr/>
        </p:nvSpPr>
        <p:spPr>
          <a:xfrm>
            <a:off x="5257800" y="2697480"/>
            <a:ext cx="3200400" cy="457200"/>
          </a:xfrm>
          <a:prstGeom prst="rect">
            <a:avLst/>
          </a:prstGeom>
          <a:noFill/>
          <a:ln/>
        </p:spPr>
        <p:txBody>
          <a:bodyPr wrap="square" lIns="0" tIns="0" rIns="0" bIns="0" rtlCol="0" anchor="t"/>
          <a:lstStyle/>
          <a:p>
            <a:pPr indent="0" marL="0">
              <a:buNone/>
            </a:pPr>
            <a:r>
              <a:rPr lang="en-US" sz="2000" b="1" dirty="0">
                <a:solidFill>
                  <a:srgbClr val="FFFFFF"/>
                </a:solidFill>
                <a:latin typeface="Yu Gothic" pitchFamily="34" charset="0"/>
                <a:ea typeface="Yu Gothic" pitchFamily="34" charset="-122"/>
                <a:cs typeface="Yu Gothic" pitchFamily="34" charset="-120"/>
              </a:rPr>
              <a:t>「勝手に動く」</a:t>
            </a:r>
            <a:endParaRPr lang="en-US" sz="2000" dirty="0"/>
          </a:p>
        </p:txBody>
      </p:sp>
      <p:sp>
        <p:nvSpPr>
          <p:cNvPr id="18" name="Text 16"/>
          <p:cNvSpPr txBox="1"/>
          <p:nvPr/>
        </p:nvSpPr>
        <p:spPr>
          <a:xfrm>
            <a:off x="457200" y="3886200"/>
            <a:ext cx="8229600" cy="411480"/>
          </a:xfrm>
          <a:prstGeom prst="rect">
            <a:avLst/>
          </a:prstGeom>
          <a:noFill/>
          <a:ln/>
        </p:spPr>
        <p:txBody>
          <a:bodyPr wrap="square" lIns="0" tIns="0" rIns="0" bIns="0" rtlCol="0" anchor="t"/>
          <a:lstStyle/>
          <a:p>
            <a:pPr algn="ctr" indent="0" marL="0">
              <a:buNone/>
            </a:pPr>
            <a:r>
              <a:rPr lang="en-US" sz="1600" b="1" dirty="0">
                <a:solidFill>
                  <a:srgbClr val="C96442"/>
                </a:solidFill>
                <a:latin typeface="Yu Gothic" pitchFamily="34" charset="0"/>
                <a:ea typeface="Yu Gothic" pitchFamily="34" charset="-122"/>
                <a:cs typeface="Yu Gothic" pitchFamily="34" charset="-120"/>
              </a:rPr>
              <a:t>スキル・フック駆動へのパラダイムシフトが進んでいる</a:t>
            </a:r>
            <a:endParaRPr lang="en-US" sz="1600" dirty="0"/>
          </a:p>
        </p:txBody>
      </p:sp>
      <p:sp>
        <p:nvSpPr>
          <p:cNvPr id="19" name="Text 17"/>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3A78E8"/>
                </a:solidFill>
                <a:latin typeface="Courier New" pitchFamily="34" charset="0"/>
                <a:ea typeface="Courier New" pitchFamily="34" charset="-122"/>
                <a:cs typeface="Courier New" pitchFamily="34" charset="-120"/>
              </a:rPr>
              <a:t>04</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Google Antigravity</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マルチエージェントオーケストレーションと非同期実行</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Antigravity の概要</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15</a:t>
            </a:r>
            <a:endParaRPr lang="en-US" sz="800" dirty="0"/>
          </a:p>
        </p:txBody>
      </p:sp>
      <p:sp>
        <p:nvSpPr>
          <p:cNvPr id="5" name="Text 3"/>
          <p:cNvSpPr txBox="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1F2430"/>
                </a:solidFill>
                <a:latin typeface="Yu Gothic" pitchFamily="34" charset="0"/>
                <a:ea typeface="Yu Gothic" pitchFamily="34" charset="-122"/>
                <a:cs typeface="Yu Gothic" pitchFamily="34" charset="-120"/>
              </a:rPr>
              <a:t>2026年6月18日に終了したGemini CLIの後継として、Google I/O 2026で発表された [23]</a:t>
            </a:r>
            <a:endParaRPr lang="en-US" sz="1400" dirty="0"/>
          </a:p>
        </p:txBody>
      </p:sp>
      <p:sp>
        <p:nvSpPr>
          <p:cNvPr id="6" name="Shape 4"/>
          <p:cNvSpPr/>
          <p:nvPr/>
        </p:nvSpPr>
        <p:spPr>
          <a:xfrm>
            <a:off x="457200" y="1554480"/>
            <a:ext cx="4023360" cy="1463040"/>
          </a:xfrm>
          <a:prstGeom prst="roundRect">
            <a:avLst>
              <a:gd name="adj" fmla="val 6250"/>
            </a:avLst>
          </a:prstGeom>
          <a:solidFill>
            <a:srgbClr val="F1F3F7"/>
          </a:solidFill>
          <a:ln w="12700">
            <a:solidFill>
              <a:srgbClr val="F1F3F7"/>
            </a:solidFill>
            <a:prstDash val="solid"/>
          </a:ln>
        </p:spPr>
      </p:sp>
      <p:sp>
        <p:nvSpPr>
          <p:cNvPr id="7" name="Text 5"/>
          <p:cNvSpPr txBox="1"/>
          <p:nvPr/>
        </p:nvSpPr>
        <p:spPr>
          <a:xfrm>
            <a:off x="685800" y="1691640"/>
            <a:ext cx="3657600" cy="365760"/>
          </a:xfrm>
          <a:prstGeom prst="rect">
            <a:avLst/>
          </a:prstGeom>
          <a:noFill/>
          <a:ln/>
        </p:spPr>
        <p:txBody>
          <a:bodyPr wrap="square" lIns="0" tIns="0" rIns="0" bIns="0" rtlCol="0" anchor="t"/>
          <a:lstStyle/>
          <a:p>
            <a:pPr indent="0" marL="0">
              <a:buNone/>
            </a:pPr>
            <a:r>
              <a:rPr lang="en-US" sz="1800" b="1" dirty="0">
                <a:solidFill>
                  <a:srgbClr val="3A78E8"/>
                </a:solidFill>
                <a:latin typeface="Yu Gothic" pitchFamily="34" charset="0"/>
                <a:ea typeface="Yu Gothic" pitchFamily="34" charset="-122"/>
                <a:cs typeface="Yu Gothic" pitchFamily="34" charset="-120"/>
              </a:rPr>
              <a:t>Antigravity CLI</a:t>
            </a:r>
            <a:endParaRPr lang="en-US" sz="1800" dirty="0"/>
          </a:p>
        </p:txBody>
      </p:sp>
      <p:sp>
        <p:nvSpPr>
          <p:cNvPr id="8" name="Text 6"/>
          <p:cNvSpPr txBox="1"/>
          <p:nvPr/>
        </p:nvSpPr>
        <p:spPr>
          <a:xfrm>
            <a:off x="685800" y="2148840"/>
            <a:ext cx="3657600" cy="73152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Go言語で再設計された、高速・軽量なターミナル版</a:t>
            </a:r>
            <a:endParaRPr lang="en-US" sz="1300" dirty="0"/>
          </a:p>
        </p:txBody>
      </p:sp>
      <p:sp>
        <p:nvSpPr>
          <p:cNvPr id="9" name="Shape 7"/>
          <p:cNvSpPr/>
          <p:nvPr/>
        </p:nvSpPr>
        <p:spPr>
          <a:xfrm>
            <a:off x="4663440" y="1554480"/>
            <a:ext cx="4023360" cy="1463040"/>
          </a:xfrm>
          <a:prstGeom prst="roundRect">
            <a:avLst>
              <a:gd name="adj" fmla="val 6250"/>
            </a:avLst>
          </a:prstGeom>
          <a:solidFill>
            <a:srgbClr val="F1F3F7"/>
          </a:solidFill>
          <a:ln w="12700">
            <a:solidFill>
              <a:srgbClr val="F1F3F7"/>
            </a:solidFill>
            <a:prstDash val="solid"/>
          </a:ln>
        </p:spPr>
      </p:sp>
      <p:sp>
        <p:nvSpPr>
          <p:cNvPr id="10" name="Text 8"/>
          <p:cNvSpPr txBox="1"/>
          <p:nvPr/>
        </p:nvSpPr>
        <p:spPr>
          <a:xfrm>
            <a:off x="4892040" y="1691640"/>
            <a:ext cx="3657600" cy="365760"/>
          </a:xfrm>
          <a:prstGeom prst="rect">
            <a:avLst/>
          </a:prstGeom>
          <a:noFill/>
          <a:ln/>
        </p:spPr>
        <p:txBody>
          <a:bodyPr wrap="square" lIns="0" tIns="0" rIns="0" bIns="0" rtlCol="0" anchor="t"/>
          <a:lstStyle/>
          <a:p>
            <a:pPr indent="0" marL="0">
              <a:buNone/>
            </a:pPr>
            <a:r>
              <a:rPr lang="en-US" sz="1800" b="1" dirty="0">
                <a:solidFill>
                  <a:srgbClr val="3A78E8"/>
                </a:solidFill>
                <a:latin typeface="Yu Gothic" pitchFamily="34" charset="0"/>
                <a:ea typeface="Yu Gothic" pitchFamily="34" charset="-122"/>
                <a:cs typeface="Yu Gothic" pitchFamily="34" charset="-120"/>
              </a:rPr>
              <a:t>Antigravity 2.0 (GUI)</a:t>
            </a:r>
            <a:endParaRPr lang="en-US" sz="1800" dirty="0"/>
          </a:p>
        </p:txBody>
      </p:sp>
      <p:sp>
        <p:nvSpPr>
          <p:cNvPr id="11" name="Text 9"/>
          <p:cNvSpPr txBox="1"/>
          <p:nvPr/>
        </p:nvSpPr>
        <p:spPr>
          <a:xfrm>
            <a:off x="4892040" y="2148840"/>
            <a:ext cx="3657600" cy="731520"/>
          </a:xfrm>
          <a:prstGeom prst="rect">
            <a:avLst/>
          </a:prstGeom>
          <a:noFill/>
          <a:ln/>
        </p:spPr>
        <p:txBody>
          <a:bodyPr wrap="square" lIns="0" tIns="0" rIns="0" bIns="0" rtlCol="0" anchor="t"/>
          <a:lstStyle/>
          <a:p>
            <a:pPr indent="0" marL="0">
              <a:buNone/>
            </a:pPr>
            <a:r>
              <a:rPr lang="en-US" sz="1300" dirty="0">
                <a:solidFill>
                  <a:srgbClr val="5B6475"/>
                </a:solidFill>
                <a:latin typeface="Yu Gothic" pitchFamily="34" charset="0"/>
                <a:ea typeface="Yu Gothic" pitchFamily="34" charset="-122"/>
                <a:cs typeface="Yu Gothic" pitchFamily="34" charset="-120"/>
              </a:rPr>
              <a:t>統合ビジュアルエディタ</a:t>
            </a:r>
            <a:endParaRPr lang="en-US" sz="1300" dirty="0"/>
          </a:p>
        </p:txBody>
      </p:sp>
      <p:sp>
        <p:nvSpPr>
          <p:cNvPr id="12" name="Shape 10"/>
          <p:cNvSpPr/>
          <p:nvPr/>
        </p:nvSpPr>
        <p:spPr>
          <a:xfrm>
            <a:off x="457200" y="3154680"/>
            <a:ext cx="8229600" cy="685800"/>
          </a:xfrm>
          <a:prstGeom prst="roundRect">
            <a:avLst>
              <a:gd name="adj" fmla="val 13333"/>
            </a:avLst>
          </a:prstGeom>
          <a:solidFill>
            <a:srgbClr val="161B26"/>
          </a:solidFill>
          <a:ln w="12700">
            <a:solidFill>
              <a:srgbClr val="161B26"/>
            </a:solidFill>
            <a:prstDash val="solid"/>
          </a:ln>
        </p:spPr>
      </p:sp>
      <p:sp>
        <p:nvSpPr>
          <p:cNvPr id="13" name="Text 11"/>
          <p:cNvSpPr txBox="1"/>
          <p:nvPr/>
        </p:nvSpPr>
        <p:spPr>
          <a:xfrm>
            <a:off x="685800" y="3154680"/>
            <a:ext cx="7772400" cy="68580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共通のコアエージェントハーネス：設定、権限、会話コンテキストをシームレスに同期する [26]</a:t>
            </a:r>
            <a:endParaRPr lang="en-US" sz="1400" dirty="0"/>
          </a:p>
        </p:txBody>
      </p:sp>
      <p:sp>
        <p:nvSpPr>
          <p:cNvPr id="14" name="Text 12"/>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400" b="1" dirty="0">
                <a:solidFill>
                  <a:srgbClr val="3A78E8"/>
                </a:solidFill>
                <a:latin typeface="Yu Gothic" pitchFamily="34" charset="0"/>
                <a:ea typeface="Yu Gothic" pitchFamily="34" charset="-122"/>
                <a:cs typeface="Yu Gothic" pitchFamily="34" charset="-120"/>
              </a:rPr>
              <a:t>特徴：バックグラウンドでの並列処理と、推論モードの動的な切り替え</a:t>
            </a:r>
            <a:endParaRPr lang="en-US" sz="1400" dirty="0"/>
          </a:p>
        </p:txBody>
      </p:sp>
      <p:sp>
        <p:nvSpPr>
          <p:cNvPr id="15" name="Text 13"/>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出典：[23][26]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Antigravity の主要な組み込みコマンド</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16</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783080"/>
                <a:gridCol w="1188720"/>
                <a:gridCol w="4206240"/>
                <a:gridCol w="1051560"/>
              </a:tblGrid>
              <a:tr h="32004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コマンド</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カテゴリ</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役割</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時間軸</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/boost</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推論と自律性</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オーケストレーター／ディープコーダー／検証ワーカーの3層推論階層を起動する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秒〜数時間</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/teamwork-preview</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推論と自律性</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エージェントチームを編成し、マイルストーンに沿って並列作業する（有料）</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数時間〜数日</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/goal</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推論と自律性</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ターンごとの確認なしに、目標を達成するまで連続実行する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分〜数時間</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/plan</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計画</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調査とインタビューを経て計画書（アーティファクト）を作成する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/grill-me</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計画</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エッジケースや制約を明確にする対話的インタビュー</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/learn</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カスタマイズ</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修正履歴からルールやスキルを蒸留して保存する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即時</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/schedule</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自動化</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タイマーやcron式でバックグラウンド実行する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スケジュール</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/browser</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ツール</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サンドボックス化したChromeでリサーチやUI検証を行う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分</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/title</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ウィンドウ制御</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タイトルバーにモデルやエージェントの状態を表示する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即時</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20040">
                <a:tc>
                  <a:txBody>
                    <a:bodyPr/>
                    <a:lstStyle/>
                    <a:p>
                      <a:pPr indent="0" marL="0">
                        <a:buNone/>
                      </a:pPr>
                      <a:r>
                        <a:rPr lang="en-US" sz="1000" b="1" dirty="0">
                          <a:solidFill>
                            <a:srgbClr val="3A78E8"/>
                          </a:solidFill>
                          <a:latin typeface="Courier New" pitchFamily="34" charset="0"/>
                          <a:ea typeface="Courier New" pitchFamily="34" charset="-122"/>
                          <a:cs typeface="Courier New" pitchFamily="34" charset="-120"/>
                        </a:rPr>
                        <a:t>/voice</a:t>
                      </a:r>
                      <a:endParaRPr lang="en-US" sz="100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インプット</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音声ディクテーションで指示を入力する</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即時</a:t>
                      </a:r>
                      <a:endParaRPr lang="en-US" sz="100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出典：[8][29][30]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サブエージェント管理とカスタムコマンド</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17</a:t>
            </a:r>
            <a:endParaRPr lang="en-US" sz="800" dirty="0"/>
          </a:p>
        </p:txBody>
      </p:sp>
      <p:sp>
        <p:nvSpPr>
          <p:cNvPr id="5" name="Shape 3"/>
          <p:cNvSpPr/>
          <p:nvPr/>
        </p:nvSpPr>
        <p:spPr>
          <a:xfrm>
            <a:off x="457200" y="1005840"/>
            <a:ext cx="3977640" cy="3611880"/>
          </a:xfrm>
          <a:prstGeom prst="roundRect">
            <a:avLst>
              <a:gd name="adj" fmla="val 2532"/>
            </a:avLst>
          </a:prstGeom>
          <a:solidFill>
            <a:srgbClr val="F1F3F7"/>
          </a:solidFill>
          <a:ln w="12700">
            <a:solidFill>
              <a:srgbClr val="F1F3F7"/>
            </a:solidFill>
            <a:prstDash val="solid"/>
          </a:ln>
        </p:spPr>
      </p:sp>
      <p:sp>
        <p:nvSpPr>
          <p:cNvPr id="6" name="Shape 4"/>
          <p:cNvSpPr/>
          <p:nvPr/>
        </p:nvSpPr>
        <p:spPr>
          <a:xfrm>
            <a:off x="685800" y="1188720"/>
            <a:ext cx="1280160" cy="329184"/>
          </a:xfrm>
          <a:prstGeom prst="roundRect">
            <a:avLst>
              <a:gd name="adj" fmla="val 22222"/>
            </a:avLst>
          </a:prstGeom>
          <a:solidFill>
            <a:srgbClr val="161B26"/>
          </a:solidFill>
          <a:ln w="12700">
            <a:solidFill>
              <a:srgbClr val="161B26"/>
            </a:solidFill>
            <a:prstDash val="solid"/>
          </a:ln>
        </p:spPr>
      </p:sp>
      <p:sp>
        <p:nvSpPr>
          <p:cNvPr id="7" name="Text 5"/>
          <p:cNvSpPr txBox="1"/>
          <p:nvPr/>
        </p:nvSpPr>
        <p:spPr>
          <a:xfrm>
            <a:off x="685800" y="1188720"/>
            <a:ext cx="128016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/agents</a:t>
            </a:r>
            <a:endParaRPr lang="en-US" sz="1200" dirty="0"/>
          </a:p>
        </p:txBody>
      </p:sp>
      <p:sp>
        <p:nvSpPr>
          <p:cNvPr id="8" name="Text 6"/>
          <p:cNvSpPr txBox="1"/>
          <p:nvPr/>
        </p:nvSpPr>
        <p:spPr>
          <a:xfrm>
            <a:off x="2103120" y="1188720"/>
            <a:ext cx="2240280" cy="329184"/>
          </a:xfrm>
          <a:prstGeom prst="rect">
            <a:avLst/>
          </a:prstGeom>
          <a:noFill/>
          <a:ln/>
        </p:spPr>
        <p:txBody>
          <a:bodyPr wrap="square" lIns="0" tIns="0" rIns="0" bIns="0" rtlCol="0" anchor="ctr"/>
          <a:lstStyle/>
          <a:p>
            <a:pPr indent="0" marL="0">
              <a:buNone/>
            </a:pPr>
            <a:r>
              <a:rPr lang="en-US" sz="1200" b="1" dirty="0">
                <a:solidFill>
                  <a:srgbClr val="1F2430"/>
                </a:solidFill>
                <a:latin typeface="Yu Gothic" pitchFamily="34" charset="0"/>
                <a:ea typeface="Yu Gothic" pitchFamily="34" charset="-122"/>
                <a:cs typeface="Yu Gothic" pitchFamily="34" charset="-120"/>
              </a:rPr>
              <a:t>非同期サブエージェントの監視パネル</a:t>
            </a:r>
            <a:endParaRPr lang="en-US" sz="1200" dirty="0"/>
          </a:p>
        </p:txBody>
      </p:sp>
      <p:sp>
        <p:nvSpPr>
          <p:cNvPr id="9" name="Text 7"/>
          <p:cNvSpPr txBox="1"/>
          <p:nvPr/>
        </p:nvSpPr>
        <p:spPr>
          <a:xfrm>
            <a:off x="685800" y="1737360"/>
            <a:ext cx="3566160" cy="26517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実行中・完了・強制終了したサブエージェントの状態と、実行中のステップを一覧表示する</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ctrl+j：承認待ちの詳細ビューへジャンプする</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ctrl+k：Fast Path Alertsでツールの実行を即時承認する</a:t>
            </a:r>
            <a:endParaRPr lang="en-US" sz="1200" dirty="0"/>
          </a:p>
        </p:txBody>
      </p:sp>
      <p:sp>
        <p:nvSpPr>
          <p:cNvPr id="10" name="Shape 8"/>
          <p:cNvSpPr/>
          <p:nvPr/>
        </p:nvSpPr>
        <p:spPr>
          <a:xfrm>
            <a:off x="4709160" y="1005840"/>
            <a:ext cx="3977640" cy="3611880"/>
          </a:xfrm>
          <a:prstGeom prst="roundRect">
            <a:avLst>
              <a:gd name="adj" fmla="val 2532"/>
            </a:avLst>
          </a:prstGeom>
          <a:solidFill>
            <a:srgbClr val="161B26"/>
          </a:solidFill>
          <a:ln w="12700">
            <a:solidFill>
              <a:srgbClr val="161B26"/>
            </a:solidFill>
            <a:prstDash val="solid"/>
          </a:ln>
        </p:spPr>
      </p:sp>
      <p:sp>
        <p:nvSpPr>
          <p:cNvPr id="11" name="Text 9"/>
          <p:cNvSpPr txBox="1"/>
          <p:nvPr/>
        </p:nvSpPr>
        <p:spPr>
          <a:xfrm>
            <a:off x="4937760" y="1143000"/>
            <a:ext cx="3566160" cy="320040"/>
          </a:xfrm>
          <a:prstGeom prst="rect">
            <a:avLst/>
          </a:prstGeom>
          <a:noFill/>
          <a:ln/>
        </p:spPr>
        <p:txBody>
          <a:bodyPr wrap="square" lIns="0" tIns="0" rIns="0" bIns="0" rtlCol="0" anchor="t"/>
          <a:lstStyle/>
          <a:p>
            <a:pPr indent="0" marL="0">
              <a:buNone/>
            </a:pPr>
            <a:r>
              <a:rPr lang="en-US" sz="1300" b="1" dirty="0">
                <a:solidFill>
                  <a:srgbClr val="FFFFFF"/>
                </a:solidFill>
                <a:latin typeface="Yu Gothic" pitchFamily="34" charset="0"/>
                <a:ea typeface="Yu Gothic" pitchFamily="34" charset="-122"/>
                <a:cs typeface="Yu Gothic" pitchFamily="34" charset="-120"/>
              </a:rPr>
              <a:t>TOML形式のカスタムコマンド</a:t>
            </a:r>
            <a:endParaRPr lang="en-US" sz="1300" dirty="0"/>
          </a:p>
        </p:txBody>
      </p:sp>
      <p:sp>
        <p:nvSpPr>
          <p:cNvPr id="12" name="Text 10"/>
          <p:cNvSpPr txBox="1"/>
          <p:nvPr/>
        </p:nvSpPr>
        <p:spPr>
          <a:xfrm>
            <a:off x="4937760" y="1554480"/>
            <a:ext cx="3566160" cy="1005840"/>
          </a:xfrm>
          <a:prstGeom prst="rect">
            <a:avLst/>
          </a:prstGeom>
          <a:noFill/>
          <a:ln/>
        </p:spPr>
        <p:txBody>
          <a:bodyPr wrap="square" lIns="0" tIns="0" rIns="0" bIns="0" rtlCol="0" anchor="t"/>
          <a:lstStyle/>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description = "..."</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prompt = """</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  {{args}} を調査して</a:t>
            </a:r>
            <a:endParaRPr lang="en-US" sz="1100" dirty="0"/>
          </a:p>
          <a:p>
            <a:pPr indent="0" marL="0">
              <a:lnSpc>
                <a:spcPct val="120000"/>
              </a:lnSpc>
              <a:buNone/>
            </a:pPr>
            <a:r>
              <a:rPr lang="en-US" sz="1100" dirty="0">
                <a:solidFill>
                  <a:srgbClr val="F2A93B"/>
                </a:solidFill>
                <a:latin typeface="Courier New" pitchFamily="34" charset="0"/>
                <a:ea typeface="Courier New" pitchFamily="34" charset="-122"/>
                <a:cs typeface="Courier New" pitchFamily="34" charset="-120"/>
              </a:rPr>
              <a:t>"""</a:t>
            </a:r>
            <a:endParaRPr lang="en-US" sz="1100" dirty="0"/>
          </a:p>
        </p:txBody>
      </p:sp>
      <p:sp>
        <p:nvSpPr>
          <p:cNvPr id="13" name="Text 11"/>
          <p:cNvSpPr txBox="1"/>
          <p:nvPr/>
        </p:nvSpPr>
        <p:spPr>
          <a:xfrm>
            <a:off x="4937760" y="2697480"/>
            <a:ext cx="3566160" cy="1828800"/>
          </a:xfrm>
          <a:prstGeom prst="rect">
            <a:avLst/>
          </a:prstGeom>
          <a:noFill/>
          <a:ln/>
        </p:spPr>
        <p:txBody>
          <a:bodyPr wrap="square" lIns="0" tIns="0" rIns="0" bIns="0" rtlCol="0" anchor="t"/>
          <a:lstStyle/>
          <a:p>
            <a:pPr marL="203200" indent="-203200">
              <a:spcAft>
                <a:spcPts val="600"/>
              </a:spcAft>
              <a:buSzPct val="100000"/>
              <a:buChar char="•"/>
            </a:pPr>
            <a:r>
              <a:rPr lang="en-US" sz="1100" dirty="0">
                <a:solidFill>
                  <a:srgbClr val="C9D0DD"/>
                </a:solidFill>
                <a:latin typeface="Yu Gothic" pitchFamily="34" charset="0"/>
                <a:ea typeface="Yu Gothic" pitchFamily="34" charset="-122"/>
                <a:cs typeface="Yu Gothic" pitchFamily="34" charset="-120"/>
              </a:rPr>
              <a:t>配置：.gemini/antigravity-cli/（プロジェクト）、~/.gemini/commands/（ユーザー）</a:t>
            </a:r>
            <a:endParaRPr lang="en-US" sz="1100" dirty="0"/>
          </a:p>
          <a:p>
            <a:pPr marL="203200" indent="-203200">
              <a:spcAft>
                <a:spcPts val="600"/>
              </a:spcAft>
              <a:buSzPct val="100000"/>
              <a:buChar char="•"/>
            </a:pPr>
            <a:r>
              <a:rPr lang="en-US" sz="1100" dirty="0">
                <a:solidFill>
                  <a:srgbClr val="C9D0DD"/>
                </a:solidFill>
                <a:latin typeface="Yu Gothic" pitchFamily="34" charset="0"/>
                <a:ea typeface="Yu Gothic" pitchFamily="34" charset="-122"/>
                <a:cs typeface="Yu Gothic" pitchFamily="34" charset="-120"/>
              </a:rPr>
              <a:t>MCPサーバーのプロンプトを自動でコマンド化する（例：/datarobot-skills:...）[24]</a:t>
            </a:r>
            <a:endParaRPr lang="en-US" sz="1100" dirty="0"/>
          </a:p>
        </p:txBody>
      </p:sp>
      <p:sp>
        <p:nvSpPr>
          <p:cNvPr id="14" name="Text 12"/>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出典：[18][24][28][32]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0E9F7A"/>
                </a:solidFill>
                <a:latin typeface="Courier New" pitchFamily="34" charset="0"/>
                <a:ea typeface="Courier New" pitchFamily="34" charset="-122"/>
                <a:cs typeface="Courier New" pitchFamily="34" charset="-120"/>
              </a:rPr>
              <a:t>05</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OpenAI Codex CLI</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厳密な階層型コンテキストと非対話型の自動化</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Codex CLI の概要</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19</a:t>
            </a:r>
            <a:endParaRPr lang="en-US" sz="800" dirty="0"/>
          </a:p>
        </p:txBody>
      </p:sp>
      <p:sp>
        <p:nvSpPr>
          <p:cNvPr id="5" name="Text 3"/>
          <p:cNvSpPr txBox="1"/>
          <p:nvPr/>
        </p:nvSpPr>
        <p:spPr>
          <a:xfrm>
            <a:off x="457200" y="1005840"/>
            <a:ext cx="8229600" cy="685800"/>
          </a:xfrm>
          <a:prstGeom prst="rect">
            <a:avLst/>
          </a:prstGeom>
          <a:noFill/>
          <a:ln/>
        </p:spPr>
        <p:txBody>
          <a:bodyPr wrap="square" lIns="0" tIns="0" rIns="0" bIns="0" rtlCol="0" anchor="t"/>
          <a:lstStyle/>
          <a:p>
            <a:pPr indent="0" marL="0">
              <a:buNone/>
            </a:pPr>
            <a:r>
              <a:rPr lang="en-US" sz="1400" dirty="0">
                <a:solidFill>
                  <a:srgbClr val="1F2430"/>
                </a:solidFill>
                <a:latin typeface="Yu Gothic" pitchFamily="34" charset="0"/>
                <a:ea typeface="Yu Gothic" pitchFamily="34" charset="-122"/>
                <a:cs typeface="Yu Gothic" pitchFamily="34" charset="-120"/>
              </a:rPr>
              <a:t>ChatGPTのサブスクリプション（Plus／Pro／Business／Enterprise）に同梱される。会話型よりも「ソフトウェア・エンジニアリング・エージェント」としての性格が強い [18]</a:t>
            </a:r>
            <a:endParaRPr lang="en-US" sz="1400" dirty="0"/>
          </a:p>
        </p:txBody>
      </p:sp>
      <p:sp>
        <p:nvSpPr>
          <p:cNvPr id="6" name="Shape 4"/>
          <p:cNvSpPr/>
          <p:nvPr/>
        </p:nvSpPr>
        <p:spPr>
          <a:xfrm>
            <a:off x="457200" y="1920240"/>
            <a:ext cx="2615184" cy="2377440"/>
          </a:xfrm>
          <a:prstGeom prst="roundRect">
            <a:avLst>
              <a:gd name="adj" fmla="val 3846"/>
            </a:avLst>
          </a:prstGeom>
          <a:solidFill>
            <a:srgbClr val="F1F3F7"/>
          </a:solidFill>
          <a:ln w="12700">
            <a:solidFill>
              <a:srgbClr val="F1F3F7"/>
            </a:solidFill>
            <a:prstDash val="solid"/>
          </a:ln>
        </p:spPr>
      </p:sp>
      <p:sp>
        <p:nvSpPr>
          <p:cNvPr id="7" name="Text 5"/>
          <p:cNvSpPr txBox="1"/>
          <p:nvPr/>
        </p:nvSpPr>
        <p:spPr>
          <a:xfrm>
            <a:off x="685800" y="2103120"/>
            <a:ext cx="914400" cy="502920"/>
          </a:xfrm>
          <a:prstGeom prst="rect">
            <a:avLst/>
          </a:prstGeom>
          <a:noFill/>
          <a:ln/>
        </p:spPr>
        <p:txBody>
          <a:bodyPr wrap="square" lIns="0" tIns="0" rIns="0" bIns="0" rtlCol="0" anchor="t"/>
          <a:lstStyle/>
          <a:p>
            <a:pPr indent="0" marL="0">
              <a:buNone/>
            </a:pPr>
            <a:r>
              <a:rPr lang="en-US" sz="2600" b="1" dirty="0">
                <a:solidFill>
                  <a:srgbClr val="0E9F7A"/>
                </a:solidFill>
                <a:latin typeface="Courier New" pitchFamily="34" charset="0"/>
                <a:ea typeface="Courier New" pitchFamily="34" charset="-122"/>
                <a:cs typeface="Courier New" pitchFamily="34" charset="-120"/>
              </a:rPr>
              <a:t>01</a:t>
            </a:r>
            <a:endParaRPr lang="en-US" sz="2600" dirty="0"/>
          </a:p>
        </p:txBody>
      </p:sp>
      <p:sp>
        <p:nvSpPr>
          <p:cNvPr id="8" name="Text 6"/>
          <p:cNvSpPr txBox="1"/>
          <p:nvPr/>
        </p:nvSpPr>
        <p:spPr>
          <a:xfrm>
            <a:off x="685800" y="2697480"/>
            <a:ext cx="2194560" cy="411480"/>
          </a:xfrm>
          <a:prstGeom prst="rect">
            <a:avLst/>
          </a:prstGeom>
          <a:noFill/>
          <a:ln/>
        </p:spPr>
        <p:txBody>
          <a:bodyPr wrap="square" lIns="0" tIns="0" rIns="0" bIns="0" rtlCol="0" anchor="t"/>
          <a:lstStyle/>
          <a:p>
            <a:pPr indent="0" marL="0">
              <a:buNone/>
            </a:pPr>
            <a:r>
              <a:rPr lang="en-US" sz="1600" b="1" dirty="0">
                <a:solidFill>
                  <a:srgbClr val="1F2430"/>
                </a:solidFill>
                <a:latin typeface="Yu Gothic" pitchFamily="34" charset="0"/>
                <a:ea typeface="Yu Gothic" pitchFamily="34" charset="-122"/>
                <a:cs typeface="Yu Gothic" pitchFamily="34" charset="-120"/>
              </a:rPr>
              <a:t>サンドボックス</a:t>
            </a:r>
            <a:endParaRPr lang="en-US" sz="1600" dirty="0"/>
          </a:p>
        </p:txBody>
      </p:sp>
      <p:sp>
        <p:nvSpPr>
          <p:cNvPr id="9" name="Text 7"/>
          <p:cNvSpPr txBox="1"/>
          <p:nvPr/>
        </p:nvSpPr>
        <p:spPr>
          <a:xfrm>
            <a:off x="685800" y="3154680"/>
            <a:ext cx="2194560" cy="100584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workspace-write などの名前付きポリシーで厳密に制御する</a:t>
            </a:r>
            <a:endParaRPr lang="en-US" sz="1200" dirty="0"/>
          </a:p>
        </p:txBody>
      </p:sp>
      <p:sp>
        <p:nvSpPr>
          <p:cNvPr id="10" name="Shape 8"/>
          <p:cNvSpPr/>
          <p:nvPr/>
        </p:nvSpPr>
        <p:spPr>
          <a:xfrm>
            <a:off x="3264408" y="1920240"/>
            <a:ext cx="2615184" cy="2377440"/>
          </a:xfrm>
          <a:prstGeom prst="roundRect">
            <a:avLst>
              <a:gd name="adj" fmla="val 3846"/>
            </a:avLst>
          </a:prstGeom>
          <a:solidFill>
            <a:srgbClr val="F1F3F7"/>
          </a:solidFill>
          <a:ln w="12700">
            <a:solidFill>
              <a:srgbClr val="F1F3F7"/>
            </a:solidFill>
            <a:prstDash val="solid"/>
          </a:ln>
        </p:spPr>
      </p:sp>
      <p:sp>
        <p:nvSpPr>
          <p:cNvPr id="11" name="Text 9"/>
          <p:cNvSpPr txBox="1"/>
          <p:nvPr/>
        </p:nvSpPr>
        <p:spPr>
          <a:xfrm>
            <a:off x="3493008" y="2103120"/>
            <a:ext cx="914400" cy="502920"/>
          </a:xfrm>
          <a:prstGeom prst="rect">
            <a:avLst/>
          </a:prstGeom>
          <a:noFill/>
          <a:ln/>
        </p:spPr>
        <p:txBody>
          <a:bodyPr wrap="square" lIns="0" tIns="0" rIns="0" bIns="0" rtlCol="0" anchor="t"/>
          <a:lstStyle/>
          <a:p>
            <a:pPr indent="0" marL="0">
              <a:buNone/>
            </a:pPr>
            <a:r>
              <a:rPr lang="en-US" sz="2600" b="1" dirty="0">
                <a:solidFill>
                  <a:srgbClr val="0E9F7A"/>
                </a:solidFill>
                <a:latin typeface="Courier New" pitchFamily="34" charset="0"/>
                <a:ea typeface="Courier New" pitchFamily="34" charset="-122"/>
                <a:cs typeface="Courier New" pitchFamily="34" charset="-120"/>
              </a:rPr>
              <a:t>02</a:t>
            </a:r>
            <a:endParaRPr lang="en-US" sz="2600" dirty="0"/>
          </a:p>
        </p:txBody>
      </p:sp>
      <p:sp>
        <p:nvSpPr>
          <p:cNvPr id="12" name="Text 10"/>
          <p:cNvSpPr txBox="1"/>
          <p:nvPr/>
        </p:nvSpPr>
        <p:spPr>
          <a:xfrm>
            <a:off x="3493008" y="2697480"/>
            <a:ext cx="2194560" cy="411480"/>
          </a:xfrm>
          <a:prstGeom prst="rect">
            <a:avLst/>
          </a:prstGeom>
          <a:noFill/>
          <a:ln/>
        </p:spPr>
        <p:txBody>
          <a:bodyPr wrap="square" lIns="0" tIns="0" rIns="0" bIns="0" rtlCol="0" anchor="t"/>
          <a:lstStyle/>
          <a:p>
            <a:pPr indent="0" marL="0">
              <a:buNone/>
            </a:pPr>
            <a:r>
              <a:rPr lang="en-US" sz="1600" b="1" dirty="0">
                <a:solidFill>
                  <a:srgbClr val="1F2430"/>
                </a:solidFill>
                <a:latin typeface="Yu Gothic" pitchFamily="34" charset="0"/>
                <a:ea typeface="Yu Gothic" pitchFamily="34" charset="-122"/>
                <a:cs typeface="Yu Gothic" pitchFamily="34" charset="-120"/>
              </a:rPr>
              <a:t>非対話型の自動化</a:t>
            </a:r>
            <a:endParaRPr lang="en-US" sz="1600" dirty="0"/>
          </a:p>
        </p:txBody>
      </p:sp>
      <p:sp>
        <p:nvSpPr>
          <p:cNvPr id="13" name="Text 11"/>
          <p:cNvSpPr txBox="1"/>
          <p:nvPr/>
        </p:nvSpPr>
        <p:spPr>
          <a:xfrm>
            <a:off x="3493008" y="3154680"/>
            <a:ext cx="2194560" cy="100584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codex exec でCI/CDパイプラインに組み込む</a:t>
            </a:r>
            <a:endParaRPr lang="en-US" sz="1200" dirty="0"/>
          </a:p>
        </p:txBody>
      </p:sp>
      <p:sp>
        <p:nvSpPr>
          <p:cNvPr id="14" name="Shape 12"/>
          <p:cNvSpPr/>
          <p:nvPr/>
        </p:nvSpPr>
        <p:spPr>
          <a:xfrm>
            <a:off x="6071616" y="1920240"/>
            <a:ext cx="2615184" cy="2377440"/>
          </a:xfrm>
          <a:prstGeom prst="roundRect">
            <a:avLst>
              <a:gd name="adj" fmla="val 3846"/>
            </a:avLst>
          </a:prstGeom>
          <a:solidFill>
            <a:srgbClr val="F1F3F7"/>
          </a:solidFill>
          <a:ln w="12700">
            <a:solidFill>
              <a:srgbClr val="F1F3F7"/>
            </a:solidFill>
            <a:prstDash val="solid"/>
          </a:ln>
        </p:spPr>
      </p:sp>
      <p:sp>
        <p:nvSpPr>
          <p:cNvPr id="15" name="Text 13"/>
          <p:cNvSpPr txBox="1"/>
          <p:nvPr/>
        </p:nvSpPr>
        <p:spPr>
          <a:xfrm>
            <a:off x="6300216" y="2103120"/>
            <a:ext cx="914400" cy="502920"/>
          </a:xfrm>
          <a:prstGeom prst="rect">
            <a:avLst/>
          </a:prstGeom>
          <a:noFill/>
          <a:ln/>
        </p:spPr>
        <p:txBody>
          <a:bodyPr wrap="square" lIns="0" tIns="0" rIns="0" bIns="0" rtlCol="0" anchor="t"/>
          <a:lstStyle/>
          <a:p>
            <a:pPr indent="0" marL="0">
              <a:buNone/>
            </a:pPr>
            <a:r>
              <a:rPr lang="en-US" sz="2600" b="1" dirty="0">
                <a:solidFill>
                  <a:srgbClr val="0E9F7A"/>
                </a:solidFill>
                <a:latin typeface="Courier New" pitchFamily="34" charset="0"/>
                <a:ea typeface="Courier New" pitchFamily="34" charset="-122"/>
                <a:cs typeface="Courier New" pitchFamily="34" charset="-120"/>
              </a:rPr>
              <a:t>03</a:t>
            </a:r>
            <a:endParaRPr lang="en-US" sz="2600" dirty="0"/>
          </a:p>
        </p:txBody>
      </p:sp>
      <p:sp>
        <p:nvSpPr>
          <p:cNvPr id="16" name="Text 14"/>
          <p:cNvSpPr txBox="1"/>
          <p:nvPr/>
        </p:nvSpPr>
        <p:spPr>
          <a:xfrm>
            <a:off x="6300216" y="2697480"/>
            <a:ext cx="2194560" cy="411480"/>
          </a:xfrm>
          <a:prstGeom prst="rect">
            <a:avLst/>
          </a:prstGeom>
          <a:noFill/>
          <a:ln/>
        </p:spPr>
        <p:txBody>
          <a:bodyPr wrap="square" lIns="0" tIns="0" rIns="0" bIns="0" rtlCol="0" anchor="t"/>
          <a:lstStyle/>
          <a:p>
            <a:pPr indent="0" marL="0">
              <a:buNone/>
            </a:pPr>
            <a:r>
              <a:rPr lang="en-US" sz="1600" b="1" dirty="0">
                <a:solidFill>
                  <a:srgbClr val="1F2430"/>
                </a:solidFill>
                <a:latin typeface="Yu Gothic" pitchFamily="34" charset="0"/>
                <a:ea typeface="Yu Gothic" pitchFamily="34" charset="-122"/>
                <a:cs typeface="Yu Gothic" pitchFamily="34" charset="-120"/>
              </a:rPr>
              <a:t>規約の徹底</a:t>
            </a:r>
            <a:endParaRPr lang="en-US" sz="1600" dirty="0"/>
          </a:p>
        </p:txBody>
      </p:sp>
      <p:sp>
        <p:nvSpPr>
          <p:cNvPr id="17" name="Text 15"/>
          <p:cNvSpPr txBox="1"/>
          <p:nvPr/>
        </p:nvSpPr>
        <p:spPr>
          <a:xfrm>
            <a:off x="6300216" y="3154680"/>
            <a:ext cx="2194560" cy="1005840"/>
          </a:xfrm>
          <a:prstGeom prst="rect">
            <a:avLst/>
          </a:prstGeom>
          <a:noFill/>
          <a:ln/>
        </p:spPr>
        <p:txBody>
          <a:bodyPr wrap="square" lIns="0" tIns="0" rIns="0" bIns="0" rtlCol="0" anchor="t"/>
          <a:lstStyle/>
          <a:p>
            <a:pPr indent="0" marL="0">
              <a:buNone/>
            </a:pPr>
            <a:r>
              <a:rPr lang="en-US" sz="1200" dirty="0">
                <a:solidFill>
                  <a:srgbClr val="5B6475"/>
                </a:solidFill>
                <a:latin typeface="Yu Gothic" pitchFamily="34" charset="0"/>
                <a:ea typeface="Yu Gothic" pitchFamily="34" charset="-122"/>
                <a:cs typeface="Yu Gothic" pitchFamily="34" charset="-120"/>
              </a:rPr>
              <a:t>AGENTS.md でプロジェクトのルールを永続化する</a:t>
            </a:r>
            <a:endParaRPr lang="en-US" sz="1200" dirty="0"/>
          </a:p>
        </p:txBody>
      </p:sp>
      <p:sp>
        <p:nvSpPr>
          <p:cNvPr id="18" name="Text 16"/>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Codex CLI の主要な組み込みコマンド</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2377440"/>
                <a:gridCol w="5852160"/>
              </a:tblGrid>
              <a:tr h="301752">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コマンド</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役割</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/permissions</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承認の挙動やサンドボックス権限を動的に変更する（旧 /approvals）</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/status</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モデル、承認モード、トークン使用量、コスト、Weeklyリミットを表示する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/usage</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トークンのアクティビティとレート制限を表示する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/compact</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会話履歴を要約してコンテキストを節約する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/side</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メインの文脈を保ったまま、一時的なサイドチャットを開く</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/review</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作業ツリーの差分を非対話型でレビューする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/init</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AGENTS.md の雛形を自動生成する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/model</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モデルと推論の深さ（low/medium/high）を切り替える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/sandbox-add-read-dir</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サンドボックスに読み取り可能なディレクトリを追加する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/export</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会話をMarkdownでエクスポートする</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0E9F7A"/>
                          </a:solidFill>
                          <a:latin typeface="Courier New" pitchFamily="34" charset="0"/>
                          <a:ea typeface="Courier New" pitchFamily="34" charset="-122"/>
                          <a:cs typeface="Courier New" pitchFamily="34" charset="-120"/>
                        </a:rPr>
                        <a:t>/cd, /pwd</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50" dirty="0">
                          <a:solidFill>
                            <a:srgbClr val="1F2430"/>
                          </a:solidFill>
                          <a:latin typeface="Yu Gothic" pitchFamily="34" charset="0"/>
                          <a:ea typeface="Yu Gothic" pitchFamily="34" charset="-122"/>
                          <a:cs typeface="Yu Gothic" pitchFamily="34" charset="-120"/>
                        </a:rPr>
                        <a:t>作業ディレクトリを変更・表示する（v0.149.0以降）</a:t>
                      </a:r>
                      <a:endParaRPr lang="en-US" sz="1050" dirty="0">
                        <a:latin typeface="Yu Gothic" charset="0"/>
                        <a:ea typeface="Yu Gothic" charset="0"/>
                        <a:cs typeface="Yu Gothic" charset="0"/>
                      </a:endParaRPr>
                    </a:p>
                  </a:txBody>
                  <a:tcPr marL="73152" marR="73152" marT="36576" marB="36576"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bl>
          </a:graphicData>
        </a:graphic>
      </p:graphicFrame>
      <p:sp>
        <p:nvSpPr>
          <p:cNvPr id="6" name="Text 3"/>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出典：[36][37][39][41]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階層型 AGENTS.md パラダイム</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21</a:t>
            </a:r>
            <a:endParaRPr lang="en-US" sz="800" dirty="0"/>
          </a:p>
        </p:txBody>
      </p:sp>
      <p:sp>
        <p:nvSpPr>
          <p:cNvPr id="5" name="Shape 3"/>
          <p:cNvSpPr/>
          <p:nvPr/>
        </p:nvSpPr>
        <p:spPr>
          <a:xfrm>
            <a:off x="457200" y="1005840"/>
            <a:ext cx="4846320" cy="3566160"/>
          </a:xfrm>
          <a:prstGeom prst="roundRect">
            <a:avLst>
              <a:gd name="adj" fmla="val 2564"/>
            </a:avLst>
          </a:prstGeom>
          <a:solidFill>
            <a:srgbClr val="F1F3F7"/>
          </a:solidFill>
          <a:ln w="12700">
            <a:solidFill>
              <a:srgbClr val="F1F3F7"/>
            </a:solidFill>
            <a:prstDash val="solid"/>
          </a:ln>
        </p:spPr>
      </p:sp>
      <p:sp>
        <p:nvSpPr>
          <p:cNvPr id="6" name="Text 4"/>
          <p:cNvSpPr txBox="1"/>
          <p:nvPr/>
        </p:nvSpPr>
        <p:spPr>
          <a:xfrm>
            <a:off x="640080" y="1115568"/>
            <a:ext cx="4480560" cy="274320"/>
          </a:xfrm>
          <a:prstGeom prst="rect">
            <a:avLst/>
          </a:prstGeom>
          <a:noFill/>
          <a:ln/>
        </p:spPr>
        <p:txBody>
          <a:bodyPr wrap="square" lIns="0" tIns="0" rIns="0" bIns="0" rtlCol="0" anchor="t"/>
          <a:lstStyle/>
          <a:p>
            <a:pPr indent="0" marL="0">
              <a:buNone/>
            </a:pPr>
            <a:r>
              <a:rPr lang="en-US" sz="1200" b="1" dirty="0">
                <a:solidFill>
                  <a:srgbClr val="1F2430"/>
                </a:solidFill>
                <a:latin typeface="Courier New" pitchFamily="34" charset="0"/>
                <a:ea typeface="Courier New" pitchFamily="34" charset="-122"/>
                <a:cs typeface="Courier New" pitchFamily="34" charset="-120"/>
              </a:rPr>
              <a:t>~/.codex/AGENTS.md</a:t>
            </a:r>
            <a:endParaRPr lang="en-US" sz="1200" dirty="0"/>
          </a:p>
        </p:txBody>
      </p:sp>
      <p:sp>
        <p:nvSpPr>
          <p:cNvPr id="7" name="Text 5"/>
          <p:cNvSpPr txBox="1"/>
          <p:nvPr/>
        </p:nvSpPr>
        <p:spPr>
          <a:xfrm>
            <a:off x="640080" y="1417320"/>
            <a:ext cx="4480560" cy="457200"/>
          </a:xfrm>
          <a:prstGeom prst="rect">
            <a:avLst/>
          </a:prstGeom>
          <a:noFill/>
          <a:ln/>
        </p:spPr>
        <p:txBody>
          <a:bodyPr wrap="square" lIns="0" tIns="0" rIns="0" bIns="0" rtlCol="0" anchor="t"/>
          <a:lstStyle/>
          <a:p>
            <a:pPr indent="0" marL="0">
              <a:buNone/>
            </a:pPr>
            <a:r>
              <a:rPr lang="en-US" sz="1100" dirty="0">
                <a:solidFill>
                  <a:srgbClr val="1F2430"/>
                </a:solidFill>
                <a:latin typeface="Yu Gothic" pitchFamily="34" charset="0"/>
                <a:ea typeface="Yu Gothic" pitchFamily="34" charset="-122"/>
                <a:cs typeface="Yu Gothic" pitchFamily="34" charset="-120"/>
              </a:rPr>
              <a:t>グローバル：個人の好みや共通ルール</a:t>
            </a:r>
            <a:endParaRPr lang="en-US" sz="1100" dirty="0"/>
          </a:p>
        </p:txBody>
      </p:sp>
      <p:sp>
        <p:nvSpPr>
          <p:cNvPr id="8" name="Shape 6"/>
          <p:cNvSpPr/>
          <p:nvPr/>
        </p:nvSpPr>
        <p:spPr>
          <a:xfrm>
            <a:off x="777240" y="1920240"/>
            <a:ext cx="4206240" cy="2651760"/>
          </a:xfrm>
          <a:prstGeom prst="roundRect">
            <a:avLst>
              <a:gd name="adj" fmla="val 3448"/>
            </a:avLst>
          </a:prstGeom>
          <a:solidFill>
            <a:srgbClr val="D6EFE6"/>
          </a:solidFill>
          <a:ln w="12700">
            <a:solidFill>
              <a:srgbClr val="D6EFE6"/>
            </a:solidFill>
            <a:prstDash val="solid"/>
          </a:ln>
        </p:spPr>
      </p:sp>
      <p:sp>
        <p:nvSpPr>
          <p:cNvPr id="9" name="Text 7"/>
          <p:cNvSpPr txBox="1"/>
          <p:nvPr/>
        </p:nvSpPr>
        <p:spPr>
          <a:xfrm>
            <a:off x="960120" y="2029968"/>
            <a:ext cx="3840480" cy="274320"/>
          </a:xfrm>
          <a:prstGeom prst="rect">
            <a:avLst/>
          </a:prstGeom>
          <a:noFill/>
          <a:ln/>
        </p:spPr>
        <p:txBody>
          <a:bodyPr wrap="square" lIns="0" tIns="0" rIns="0" bIns="0" rtlCol="0" anchor="t"/>
          <a:lstStyle/>
          <a:p>
            <a:pPr indent="0" marL="0">
              <a:buNone/>
            </a:pPr>
            <a:r>
              <a:rPr lang="en-US" sz="1200" b="1" dirty="0">
                <a:solidFill>
                  <a:srgbClr val="1F2430"/>
                </a:solidFill>
                <a:latin typeface="Courier New" pitchFamily="34" charset="0"/>
                <a:ea typeface="Courier New" pitchFamily="34" charset="-122"/>
                <a:cs typeface="Courier New" pitchFamily="34" charset="-120"/>
              </a:rPr>
              <a:t>./AGENTS.md</a:t>
            </a:r>
            <a:endParaRPr lang="en-US" sz="1200" dirty="0"/>
          </a:p>
        </p:txBody>
      </p:sp>
      <p:sp>
        <p:nvSpPr>
          <p:cNvPr id="10" name="Text 8"/>
          <p:cNvSpPr txBox="1"/>
          <p:nvPr/>
        </p:nvSpPr>
        <p:spPr>
          <a:xfrm>
            <a:off x="960120" y="2331720"/>
            <a:ext cx="3840480" cy="457200"/>
          </a:xfrm>
          <a:prstGeom prst="rect">
            <a:avLst/>
          </a:prstGeom>
          <a:noFill/>
          <a:ln/>
        </p:spPr>
        <p:txBody>
          <a:bodyPr wrap="square" lIns="0" tIns="0" rIns="0" bIns="0" rtlCol="0" anchor="t"/>
          <a:lstStyle/>
          <a:p>
            <a:pPr indent="0" marL="0">
              <a:buNone/>
            </a:pPr>
            <a:r>
              <a:rPr lang="en-US" sz="1100" dirty="0">
                <a:solidFill>
                  <a:srgbClr val="1F2430"/>
                </a:solidFill>
                <a:latin typeface="Yu Gothic" pitchFamily="34" charset="0"/>
                <a:ea typeface="Yu Gothic" pitchFamily="34" charset="-122"/>
                <a:cs typeface="Yu Gothic" pitchFamily="34" charset="-120"/>
              </a:rPr>
              <a:t>プロジェクトルート：アーキテクチャ、CI/CD、バージョン制約</a:t>
            </a:r>
            <a:endParaRPr lang="en-US" sz="1100" dirty="0"/>
          </a:p>
        </p:txBody>
      </p:sp>
      <p:sp>
        <p:nvSpPr>
          <p:cNvPr id="11" name="Shape 9"/>
          <p:cNvSpPr/>
          <p:nvPr/>
        </p:nvSpPr>
        <p:spPr>
          <a:xfrm>
            <a:off x="1097280" y="2834640"/>
            <a:ext cx="3566160" cy="1737360"/>
          </a:xfrm>
          <a:prstGeom prst="roundRect">
            <a:avLst>
              <a:gd name="adj" fmla="val 5263"/>
            </a:avLst>
          </a:prstGeom>
          <a:solidFill>
            <a:srgbClr val="0E9F7A"/>
          </a:solidFill>
          <a:ln w="12700">
            <a:solidFill>
              <a:srgbClr val="0E9F7A"/>
            </a:solidFill>
            <a:prstDash val="solid"/>
          </a:ln>
        </p:spPr>
      </p:sp>
      <p:sp>
        <p:nvSpPr>
          <p:cNvPr id="12" name="Text 10"/>
          <p:cNvSpPr txBox="1"/>
          <p:nvPr/>
        </p:nvSpPr>
        <p:spPr>
          <a:xfrm>
            <a:off x="1280160" y="2944368"/>
            <a:ext cx="3200400" cy="27432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frontend/AGENTS.md</a:t>
            </a:r>
            <a:endParaRPr lang="en-US" sz="1200" dirty="0"/>
          </a:p>
        </p:txBody>
      </p:sp>
      <p:sp>
        <p:nvSpPr>
          <p:cNvPr id="13" name="Text 11"/>
          <p:cNvSpPr txBox="1"/>
          <p:nvPr/>
        </p:nvSpPr>
        <p:spPr>
          <a:xfrm>
            <a:off x="1280160" y="3246120"/>
            <a:ext cx="3200400" cy="457200"/>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サブディレクトリ：モジュール固有のルール（.override.md も可）</a:t>
            </a:r>
            <a:endParaRPr lang="en-US" sz="1100" dirty="0"/>
          </a:p>
        </p:txBody>
      </p:sp>
      <p:sp>
        <p:nvSpPr>
          <p:cNvPr id="14" name="Text 12"/>
          <p:cNvSpPr txBox="1"/>
          <p:nvPr/>
        </p:nvSpPr>
        <p:spPr>
          <a:xfrm>
            <a:off x="1097280" y="3977640"/>
            <a:ext cx="3566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深い階層ほど優先される</a:t>
            </a:r>
            <a:endParaRPr lang="en-US" sz="1300" dirty="0"/>
          </a:p>
        </p:txBody>
      </p:sp>
      <p:sp>
        <p:nvSpPr>
          <p:cNvPr id="15" name="Text 13"/>
          <p:cNvSpPr txBox="1"/>
          <p:nvPr/>
        </p:nvSpPr>
        <p:spPr>
          <a:xfrm>
            <a:off x="5669280" y="1005840"/>
            <a:ext cx="3017520" cy="361188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60,000以上のプロジェクトで採用されているオープンフォーマット。「エージェント向けのREADME」[43]</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ルートからカレントディレクトリへ順に読み込んで結合し、プロンプトの最上流に注入する [46]</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散文ではなく、検証可能なコマンドとDefinition of Doneを書くのがベストプラクティス [43]</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Codex自身がMCPサーバーとしても動作する [18]</a:t>
            </a:r>
            <a:endParaRPr lang="en-US" sz="1200" dirty="0"/>
          </a:p>
        </p:txBody>
      </p:sp>
      <p:sp>
        <p:nvSpPr>
          <p:cNvPr id="16" name="Text 14"/>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出典：[18][43][46]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F2A93B"/>
                </a:solidFill>
                <a:latin typeface="Courier New" pitchFamily="34" charset="0"/>
                <a:ea typeface="Courier New" pitchFamily="34" charset="-122"/>
                <a:cs typeface="Courier New" pitchFamily="34" charset="-120"/>
              </a:rPr>
              <a:t>06</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3大プラットフォームの比較</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設計思想の違いと使い分け</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比較表</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371600"/>
                <a:gridCol w="2286000"/>
                <a:gridCol w="2286000"/>
                <a:gridCol w="2286000"/>
              </a:tblGrid>
              <a:tr h="329184">
                <a:tc>
                  <a:txBody>
                    <a:bodyPr/>
                    <a:lstStyle/>
                    <a:p>
                      <a:pPr algn="l" indent="0" marL="0">
                        <a:buNone/>
                      </a:pPr>
                      <a:endParaRPr lang="en-US" sz="11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61B26"/>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Antigravity</a:t>
                      </a:r>
                      <a:endParaRPr lang="en-US" sz="11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3A78E8"/>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Claude Code</a:t>
                      </a:r>
                      <a:endParaRPr lang="en-US" sz="11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C96442"/>
                    </a:solidFill>
                  </a:tcPr>
                </a:tc>
                <a:tc>
                  <a:txBody>
                    <a:bodyPr/>
                    <a:lstStyle/>
                    <a:p>
                      <a:pPr algn="ctr" indent="0" marL="0">
                        <a:buNone/>
                      </a:pPr>
                      <a:r>
                        <a:rPr lang="en-US" sz="1100" b="1" dirty="0">
                          <a:solidFill>
                            <a:srgbClr val="FFFFFF"/>
                          </a:solidFill>
                          <a:latin typeface="Yu Gothic" pitchFamily="34" charset="0"/>
                          <a:ea typeface="Yu Gothic" pitchFamily="34" charset="-122"/>
                          <a:cs typeface="Yu Gothic" pitchFamily="34" charset="-120"/>
                        </a:rPr>
                        <a:t>Codex CLI</a:t>
                      </a:r>
                      <a:endParaRPr lang="en-US" sz="11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0E9F7A"/>
                    </a:solidFill>
                  </a:tcPr>
                </a:tc>
              </a:tr>
              <a:tr h="658368">
                <a:tc>
                  <a:txBody>
                    <a:bodyPr/>
                    <a:lstStyle/>
                    <a:p>
                      <a:pPr indent="0" marL="0">
                        <a:buNone/>
                      </a:pPr>
                      <a:r>
                        <a:rPr lang="en-US" sz="1000" b="1" dirty="0">
                          <a:solidFill>
                            <a:srgbClr val="1F2430"/>
                          </a:solidFill>
                          <a:latin typeface="Yu Gothic" pitchFamily="34" charset="0"/>
                          <a:ea typeface="Yu Gothic" pitchFamily="34" charset="-122"/>
                          <a:cs typeface="Yu Gothic" pitchFamily="34" charset="-120"/>
                        </a:rPr>
                        <a:t>価格・利用制限</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無料枠あり（超過後は軽量モデルへ）。クォータ上限に達しやすい</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Pro/Max（月額$20〜）に内包。制限は比較的厳しい</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ChatGPTサブスクに内包。高リミットで長時間作業に向く</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457200">
                <a:tc>
                  <a:txBody>
                    <a:bodyPr/>
                    <a:lstStyle/>
                    <a:p>
                      <a:pPr indent="0" marL="0">
                        <a:buNone/>
                      </a:pPr>
                      <a:r>
                        <a:rPr lang="en-US" sz="1000" b="1" dirty="0">
                          <a:solidFill>
                            <a:srgbClr val="1F2430"/>
                          </a:solidFill>
                          <a:latin typeface="Yu Gothic" pitchFamily="34" charset="0"/>
                          <a:ea typeface="Yu Gothic" pitchFamily="34" charset="-122"/>
                          <a:cs typeface="Yu Gothic" pitchFamily="34" charset="-120"/>
                        </a:rPr>
                        <a:t>コンテキスト</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最大約100万トークン</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20万〜100万トークン</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CLIは約40万（APIで最大100万）</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F2430"/>
                          </a:solidFill>
                          <a:latin typeface="Yu Gothic" pitchFamily="34" charset="0"/>
                          <a:ea typeface="Yu Gothic" pitchFamily="34" charset="-122"/>
                          <a:cs typeface="Yu Gothic" pitchFamily="34" charset="-120"/>
                        </a:rPr>
                        <a:t>サブエージェント</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/agents パネルで非同期に監視</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深い推論による自律的なタスク分解</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実験的なMulti-agents（ファンアウト）</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r h="548640">
                <a:tc>
                  <a:txBody>
                    <a:bodyPr/>
                    <a:lstStyle/>
                    <a:p>
                      <a:pPr indent="0" marL="0">
                        <a:buNone/>
                      </a:pPr>
                      <a:r>
                        <a:rPr lang="en-US" sz="1000" b="1" dirty="0">
                          <a:solidFill>
                            <a:srgbClr val="1F2430"/>
                          </a:solidFill>
                          <a:latin typeface="Yu Gothic" pitchFamily="34" charset="0"/>
                          <a:ea typeface="Yu Gothic" pitchFamily="34" charset="-122"/>
                          <a:cs typeface="Yu Gothic" pitchFamily="34" charset="-120"/>
                        </a:rPr>
                        <a:t>サンドボックス</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nsjail、sandbox-exec等のOSネイティブ分離</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OS強制サンドボックス＋厳格な承認フロー</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workspace-write 等の名前付きポリシー</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1F2430"/>
                          </a:solidFill>
                          <a:latin typeface="Yu Gothic" pitchFamily="34" charset="0"/>
                          <a:ea typeface="Yu Gothic" pitchFamily="34" charset="-122"/>
                          <a:cs typeface="Yu Gothic" pitchFamily="34" charset="-120"/>
                        </a:rPr>
                        <a:t>拡張形式</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.toml＋MCPからの自動露出</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.md（YAMLフロントマター、Bash実行）</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c>
                  <a:txBody>
                    <a:bodyPr/>
                    <a:lstStyle/>
                    <a:p>
                      <a:pPr indent="0" marL="0">
                        <a:buNone/>
                      </a:pPr>
                      <a:r>
                        <a:rPr lang="en-US" sz="1000" dirty="0">
                          <a:solidFill>
                            <a:srgbClr val="1F2430"/>
                          </a:solidFill>
                          <a:latin typeface="Yu Gothic" pitchFamily="34" charset="0"/>
                          <a:ea typeface="Yu Gothic" pitchFamily="34" charset="-122"/>
                          <a:cs typeface="Yu Gothic" pitchFamily="34" charset="-120"/>
                        </a:rPr>
                        <a:t>AGENTS.md＋config.toml</a:t>
                      </a:r>
                      <a:endParaRPr lang="en-US" sz="1000" dirty="0">
                        <a:latin typeface="Yu Gothic" charset="0"/>
                        <a:ea typeface="Yu Gothic" charset="0"/>
                        <a:cs typeface="Yu Gothic" charset="0"/>
                      </a:endParaRPr>
                    </a:p>
                  </a:txBody>
                  <a:tcPr marL="73152" marR="73152"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1F3F7"/>
                    </a:solidFill>
                  </a:tcPr>
                </a:tc>
              </a:tr>
            </a:tbl>
          </a:graphicData>
        </a:graphic>
      </p:graphicFrame>
      <p:sp>
        <p:nvSpPr>
          <p:cNvPr id="6" name="Text 3"/>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出典：[18][19][28][51]</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ユースケース別の選定基準</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24</a:t>
            </a:r>
            <a:endParaRPr lang="en-US" sz="800" dirty="0"/>
          </a:p>
        </p:txBody>
      </p:sp>
      <p:sp>
        <p:nvSpPr>
          <p:cNvPr id="5" name="Shape 3"/>
          <p:cNvSpPr/>
          <p:nvPr/>
        </p:nvSpPr>
        <p:spPr>
          <a:xfrm>
            <a:off x="457200" y="1005840"/>
            <a:ext cx="2615184" cy="2514600"/>
          </a:xfrm>
          <a:prstGeom prst="roundRect">
            <a:avLst>
              <a:gd name="adj" fmla="val 3636"/>
            </a:avLst>
          </a:prstGeom>
          <a:solidFill>
            <a:srgbClr val="F1F3F7"/>
          </a:solidFill>
          <a:ln w="12700">
            <a:solidFill>
              <a:srgbClr val="F1F3F7"/>
            </a:solidFill>
            <a:prstDash val="solid"/>
          </a:ln>
        </p:spPr>
      </p:sp>
      <p:sp>
        <p:nvSpPr>
          <p:cNvPr id="6" name="Shape 4"/>
          <p:cNvSpPr/>
          <p:nvPr/>
        </p:nvSpPr>
        <p:spPr>
          <a:xfrm>
            <a:off x="640080" y="1143000"/>
            <a:ext cx="2249424" cy="329184"/>
          </a:xfrm>
          <a:prstGeom prst="roundRect">
            <a:avLst>
              <a:gd name="adj" fmla="val 22222"/>
            </a:avLst>
          </a:prstGeom>
          <a:solidFill>
            <a:srgbClr val="C96442"/>
          </a:solidFill>
          <a:ln w="12700">
            <a:solidFill>
              <a:srgbClr val="C96442"/>
            </a:solidFill>
            <a:prstDash val="solid"/>
          </a:ln>
        </p:spPr>
      </p:sp>
      <p:sp>
        <p:nvSpPr>
          <p:cNvPr id="7" name="Text 5"/>
          <p:cNvSpPr txBox="1"/>
          <p:nvPr/>
        </p:nvSpPr>
        <p:spPr>
          <a:xfrm>
            <a:off x="640080" y="1143000"/>
            <a:ext cx="22494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Claude Code</a:t>
            </a:r>
            <a:endParaRPr lang="en-US" sz="1200" dirty="0"/>
          </a:p>
        </p:txBody>
      </p:sp>
      <p:sp>
        <p:nvSpPr>
          <p:cNvPr id="8" name="Text 6"/>
          <p:cNvSpPr txBox="1"/>
          <p:nvPr/>
        </p:nvSpPr>
        <p:spPr>
          <a:xfrm>
            <a:off x="640080" y="1645920"/>
            <a:ext cx="2249424" cy="7772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探求的・推論的なタスクに強い</a:t>
            </a:r>
            <a:endParaRPr lang="en-US" sz="1300" dirty="0"/>
          </a:p>
        </p:txBody>
      </p:sp>
      <p:sp>
        <p:nvSpPr>
          <p:cNvPr id="9" name="Text 7"/>
          <p:cNvSpPr txBox="1"/>
          <p:nvPr/>
        </p:nvSpPr>
        <p:spPr>
          <a:xfrm>
            <a:off x="640080" y="2468880"/>
            <a:ext cx="2249424" cy="960120"/>
          </a:xfrm>
          <a:prstGeom prst="rect">
            <a:avLst/>
          </a:prstGeom>
          <a:noFill/>
          <a:ln/>
        </p:spPr>
        <p:txBody>
          <a:bodyPr wrap="square" lIns="0" tIns="0" rIns="0" bIns="0" rtlCol="0" anchor="t"/>
          <a:lstStyle/>
          <a:p>
            <a:pPr indent="0" marL="0">
              <a:buNone/>
            </a:pPr>
            <a:r>
              <a:rPr lang="en-US" sz="1100" dirty="0">
                <a:solidFill>
                  <a:srgbClr val="5B6475"/>
                </a:solidFill>
                <a:latin typeface="Yu Gothic" pitchFamily="34" charset="0"/>
                <a:ea typeface="Yu Gothic" pitchFamily="34" charset="-122"/>
                <a:cs typeface="Yu Gothic" pitchFamily="34" charset="-120"/>
              </a:rPr>
              <a:t>オーバーエンジニアリングの傾向があり、トークンリミットの消費が早い [19]</a:t>
            </a:r>
            <a:endParaRPr lang="en-US" sz="1100" dirty="0"/>
          </a:p>
        </p:txBody>
      </p:sp>
      <p:sp>
        <p:nvSpPr>
          <p:cNvPr id="10" name="Shape 8"/>
          <p:cNvSpPr/>
          <p:nvPr/>
        </p:nvSpPr>
        <p:spPr>
          <a:xfrm>
            <a:off x="3264408" y="1005840"/>
            <a:ext cx="2615184" cy="2514600"/>
          </a:xfrm>
          <a:prstGeom prst="roundRect">
            <a:avLst>
              <a:gd name="adj" fmla="val 3636"/>
            </a:avLst>
          </a:prstGeom>
          <a:solidFill>
            <a:srgbClr val="F1F3F7"/>
          </a:solidFill>
          <a:ln w="12700">
            <a:solidFill>
              <a:srgbClr val="F1F3F7"/>
            </a:solidFill>
            <a:prstDash val="solid"/>
          </a:ln>
        </p:spPr>
      </p:sp>
      <p:sp>
        <p:nvSpPr>
          <p:cNvPr id="11" name="Shape 9"/>
          <p:cNvSpPr/>
          <p:nvPr/>
        </p:nvSpPr>
        <p:spPr>
          <a:xfrm>
            <a:off x="3447288" y="1143000"/>
            <a:ext cx="2249424" cy="329184"/>
          </a:xfrm>
          <a:prstGeom prst="roundRect">
            <a:avLst>
              <a:gd name="adj" fmla="val 22222"/>
            </a:avLst>
          </a:prstGeom>
          <a:solidFill>
            <a:srgbClr val="0E9F7A"/>
          </a:solidFill>
          <a:ln w="12700">
            <a:solidFill>
              <a:srgbClr val="0E9F7A"/>
            </a:solidFill>
            <a:prstDash val="solid"/>
          </a:ln>
        </p:spPr>
      </p:sp>
      <p:sp>
        <p:nvSpPr>
          <p:cNvPr id="12" name="Text 10"/>
          <p:cNvSpPr txBox="1"/>
          <p:nvPr/>
        </p:nvSpPr>
        <p:spPr>
          <a:xfrm>
            <a:off x="3447288" y="1143000"/>
            <a:ext cx="22494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Codex CLI</a:t>
            </a:r>
            <a:endParaRPr lang="en-US" sz="1200" dirty="0"/>
          </a:p>
        </p:txBody>
      </p:sp>
      <p:sp>
        <p:nvSpPr>
          <p:cNvPr id="13" name="Text 11"/>
          <p:cNvSpPr txBox="1"/>
          <p:nvPr/>
        </p:nvSpPr>
        <p:spPr>
          <a:xfrm>
            <a:off x="3447288" y="1645920"/>
            <a:ext cx="2249424" cy="7772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仕様が明確なタスクで、指示に忠実に従う</a:t>
            </a:r>
            <a:endParaRPr lang="en-US" sz="1300" dirty="0"/>
          </a:p>
        </p:txBody>
      </p:sp>
      <p:sp>
        <p:nvSpPr>
          <p:cNvPr id="14" name="Text 12"/>
          <p:cNvSpPr txBox="1"/>
          <p:nvPr/>
        </p:nvSpPr>
        <p:spPr>
          <a:xfrm>
            <a:off x="3447288" y="2468880"/>
            <a:ext cx="2249424" cy="960120"/>
          </a:xfrm>
          <a:prstGeom prst="rect">
            <a:avLst/>
          </a:prstGeom>
          <a:noFill/>
          <a:ln/>
        </p:spPr>
        <p:txBody>
          <a:bodyPr wrap="square" lIns="0" tIns="0" rIns="0" bIns="0" rtlCol="0" anchor="t"/>
          <a:lstStyle/>
          <a:p>
            <a:pPr indent="0" marL="0">
              <a:buNone/>
            </a:pPr>
            <a:r>
              <a:rPr lang="en-US" sz="1100" dirty="0">
                <a:solidFill>
                  <a:srgbClr val="5B6475"/>
                </a:solidFill>
                <a:latin typeface="Yu Gothic" pitchFamily="34" charset="0"/>
                <a:ea typeface="Yu Gothic" pitchFamily="34" charset="-122"/>
                <a:cs typeface="Yu Gothic" pitchFamily="34" charset="-120"/>
              </a:rPr>
              <a:t>クォータが大きく、CI/CDへのヘッドレス組み込みに最適 [19]</a:t>
            </a:r>
            <a:endParaRPr lang="en-US" sz="1100" dirty="0"/>
          </a:p>
        </p:txBody>
      </p:sp>
      <p:sp>
        <p:nvSpPr>
          <p:cNvPr id="15" name="Shape 13"/>
          <p:cNvSpPr/>
          <p:nvPr/>
        </p:nvSpPr>
        <p:spPr>
          <a:xfrm>
            <a:off x="6071616" y="1005840"/>
            <a:ext cx="2615184" cy="2514600"/>
          </a:xfrm>
          <a:prstGeom prst="roundRect">
            <a:avLst>
              <a:gd name="adj" fmla="val 3636"/>
            </a:avLst>
          </a:prstGeom>
          <a:solidFill>
            <a:srgbClr val="F1F3F7"/>
          </a:solidFill>
          <a:ln w="12700">
            <a:solidFill>
              <a:srgbClr val="F1F3F7"/>
            </a:solidFill>
            <a:prstDash val="solid"/>
          </a:ln>
        </p:spPr>
      </p:sp>
      <p:sp>
        <p:nvSpPr>
          <p:cNvPr id="16" name="Shape 14"/>
          <p:cNvSpPr/>
          <p:nvPr/>
        </p:nvSpPr>
        <p:spPr>
          <a:xfrm>
            <a:off x="6254496" y="1143000"/>
            <a:ext cx="2249424" cy="329184"/>
          </a:xfrm>
          <a:prstGeom prst="roundRect">
            <a:avLst>
              <a:gd name="adj" fmla="val 22222"/>
            </a:avLst>
          </a:prstGeom>
          <a:solidFill>
            <a:srgbClr val="3A78E8"/>
          </a:solidFill>
          <a:ln w="12700">
            <a:solidFill>
              <a:srgbClr val="3A78E8"/>
            </a:solidFill>
            <a:prstDash val="solid"/>
          </a:ln>
        </p:spPr>
      </p:sp>
      <p:sp>
        <p:nvSpPr>
          <p:cNvPr id="17" name="Text 15"/>
          <p:cNvSpPr txBox="1"/>
          <p:nvPr/>
        </p:nvSpPr>
        <p:spPr>
          <a:xfrm>
            <a:off x="6254496" y="1143000"/>
            <a:ext cx="22494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Antigravity</a:t>
            </a:r>
            <a:endParaRPr lang="en-US" sz="1200" dirty="0"/>
          </a:p>
        </p:txBody>
      </p:sp>
      <p:sp>
        <p:nvSpPr>
          <p:cNvPr id="18" name="Text 16"/>
          <p:cNvSpPr txBox="1"/>
          <p:nvPr/>
        </p:nvSpPr>
        <p:spPr>
          <a:xfrm>
            <a:off x="6254496" y="1645920"/>
            <a:ext cx="2249424" cy="77724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両者の中間。GUIとCLIの移行やGoogle Cloud連携に強い</a:t>
            </a:r>
            <a:endParaRPr lang="en-US" sz="1300" dirty="0"/>
          </a:p>
        </p:txBody>
      </p:sp>
      <p:sp>
        <p:nvSpPr>
          <p:cNvPr id="19" name="Text 17"/>
          <p:cNvSpPr txBox="1"/>
          <p:nvPr/>
        </p:nvSpPr>
        <p:spPr>
          <a:xfrm>
            <a:off x="6254496" y="2468880"/>
            <a:ext cx="2249424" cy="960120"/>
          </a:xfrm>
          <a:prstGeom prst="rect">
            <a:avLst/>
          </a:prstGeom>
          <a:noFill/>
          <a:ln/>
        </p:spPr>
        <p:txBody>
          <a:bodyPr wrap="square" lIns="0" tIns="0" rIns="0" bIns="0" rtlCol="0" anchor="t"/>
          <a:lstStyle/>
          <a:p>
            <a:pPr indent="0" marL="0">
              <a:buNone/>
            </a:pPr>
            <a:r>
              <a:rPr lang="en-US" sz="1100" dirty="0">
                <a:solidFill>
                  <a:srgbClr val="5B6475"/>
                </a:solidFill>
                <a:latin typeface="Yu Gothic" pitchFamily="34" charset="0"/>
                <a:ea typeface="Yu Gothic" pitchFamily="34" charset="-122"/>
                <a:cs typeface="Yu Gothic" pitchFamily="34" charset="-120"/>
              </a:rPr>
              <a:t>初学者向き。ただし無料枠は上限に達しやすい [18][23]</a:t>
            </a:r>
            <a:endParaRPr lang="en-US" sz="1100" dirty="0"/>
          </a:p>
        </p:txBody>
      </p:sp>
      <p:sp>
        <p:nvSpPr>
          <p:cNvPr id="20" name="Shape 18"/>
          <p:cNvSpPr/>
          <p:nvPr/>
        </p:nvSpPr>
        <p:spPr>
          <a:xfrm>
            <a:off x="457200" y="3749040"/>
            <a:ext cx="8229600" cy="868680"/>
          </a:xfrm>
          <a:prstGeom prst="roundRect">
            <a:avLst>
              <a:gd name="adj" fmla="val 10526"/>
            </a:avLst>
          </a:prstGeom>
          <a:solidFill>
            <a:srgbClr val="161B26"/>
          </a:solidFill>
          <a:ln w="12700">
            <a:solidFill>
              <a:srgbClr val="161B26"/>
            </a:solidFill>
            <a:prstDash val="solid"/>
          </a:ln>
        </p:spPr>
      </p:sp>
      <p:sp>
        <p:nvSpPr>
          <p:cNvPr id="21" name="Text 19"/>
          <p:cNvSpPr txBox="1"/>
          <p:nvPr/>
        </p:nvSpPr>
        <p:spPr>
          <a:xfrm>
            <a:off x="685800" y="3749040"/>
            <a:ext cx="7772400" cy="868680"/>
          </a:xfrm>
          <a:prstGeom prst="rect">
            <a:avLst/>
          </a:prstGeom>
          <a:noFill/>
          <a:ln/>
        </p:spPr>
        <p:txBody>
          <a:bodyPr wrap="square" lIns="0" tIns="0" rIns="0" bIns="0" rtlCol="0" anchor="ctr"/>
          <a:lstStyle/>
          <a:p>
            <a:pPr indent="0" marL="0">
              <a:buNone/>
            </a:pPr>
            <a:r>
              <a:rPr lang="en-US" sz="1300" b="1" dirty="0">
                <a:solidFill>
                  <a:srgbClr val="F2A93B"/>
                </a:solidFill>
                <a:latin typeface="Yu Gothic" pitchFamily="34" charset="0"/>
                <a:ea typeface="Yu Gothic" pitchFamily="34" charset="-122"/>
                <a:cs typeface="Yu Gothic" pitchFamily="34" charset="-120"/>
              </a:rPr>
              <a:t>実務での傾向：</a:t>
            </a:r>
            <a:pPr indent="0" marL="0">
              <a:buNone/>
            </a:pPr>
            <a:r>
              <a:rPr lang="en-US" sz="1300" dirty="0">
                <a:solidFill>
                  <a:srgbClr val="FFFFFF"/>
                </a:solidFill>
                <a:latin typeface="Yu Gothic" pitchFamily="34" charset="0"/>
                <a:ea typeface="Yu Gothic" pitchFamily="34" charset="-122"/>
                <a:cs typeface="Yu Gothic" pitchFamily="34" charset="-120"/>
              </a:rPr>
              <a:t>新規開発にはClaude Code、リファクタリング・PRレビュー・CI連携にはCodexを使う「併用運用」が増えている [50]</a:t>
            </a:r>
            <a:endParaRPr lang="en-US" sz="1300" dirty="0"/>
          </a:p>
        </p:txBody>
      </p:sp>
      <p:sp>
        <p:nvSpPr>
          <p:cNvPr id="22" name="Text 20"/>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出典：[18][19][23][50]</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640080" y="1234440"/>
            <a:ext cx="1828800" cy="1005840"/>
          </a:xfrm>
          <a:prstGeom prst="rect">
            <a:avLst/>
          </a:prstGeom>
          <a:noFill/>
          <a:ln/>
        </p:spPr>
        <p:txBody>
          <a:bodyPr wrap="square" lIns="0" tIns="0" rIns="0" bIns="0" rtlCol="0" anchor="t"/>
          <a:lstStyle/>
          <a:p>
            <a:pPr indent="0" marL="0">
              <a:buNone/>
            </a:pPr>
            <a:r>
              <a:rPr lang="en-US" sz="6000" b="1" dirty="0">
                <a:solidFill>
                  <a:srgbClr val="D64545"/>
                </a:solidFill>
                <a:latin typeface="Courier New" pitchFamily="34" charset="0"/>
                <a:ea typeface="Courier New" pitchFamily="34" charset="-122"/>
                <a:cs typeface="Courier New" pitchFamily="34" charset="-120"/>
              </a:rPr>
              <a:t>07</a:t>
            </a:r>
            <a:endParaRPr lang="en-US" sz="6000" dirty="0"/>
          </a:p>
        </p:txBody>
      </p:sp>
      <p:sp>
        <p:nvSpPr>
          <p:cNvPr id="3" name="Text 1"/>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セキュリティ脅威と「GuardFall」</a:t>
            </a:r>
            <a:endParaRPr lang="en-US" sz="3200" dirty="0"/>
          </a:p>
        </p:txBody>
      </p:sp>
      <p:sp>
        <p:nvSpPr>
          <p:cNvPr id="4" name="Text 2"/>
          <p:cNvSpPr txBox="1"/>
          <p:nvPr/>
        </p:nvSpPr>
        <p:spPr>
          <a:xfrm>
            <a:off x="640080" y="3108960"/>
            <a:ext cx="7863840" cy="457200"/>
          </a:xfrm>
          <a:prstGeom prst="rect">
            <a:avLst/>
          </a:prstGeom>
          <a:noFill/>
          <a:ln/>
        </p:spPr>
        <p:txBody>
          <a:bodyPr wrap="square" lIns="0" tIns="0" rIns="0" bIns="0" rtlCol="0" anchor="t"/>
          <a:lstStyle/>
          <a:p>
            <a:pPr indent="0" marL="0">
              <a:buNone/>
            </a:pPr>
            <a:r>
              <a:rPr lang="en-US" sz="1500" dirty="0">
                <a:solidFill>
                  <a:srgbClr val="AEB6C6"/>
                </a:solidFill>
                <a:latin typeface="Yu Gothic" pitchFamily="34" charset="0"/>
                <a:ea typeface="Yu Gothic" pitchFamily="34" charset="-122"/>
                <a:cs typeface="Yu Gothic" pitchFamily="34" charset="-120"/>
              </a:rPr>
              <a:t>エージェントの自律性がもたらす新たなリスク</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間接的プロンプトインジェクション</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26</a:t>
            </a:r>
            <a:endParaRPr lang="en-US" sz="800" dirty="0"/>
          </a:p>
        </p:txBody>
      </p:sp>
      <p:sp>
        <p:nvSpPr>
          <p:cNvPr id="5" name="Shape 3"/>
          <p:cNvSpPr/>
          <p:nvPr/>
        </p:nvSpPr>
        <p:spPr>
          <a:xfrm>
            <a:off x="457200" y="1051560"/>
            <a:ext cx="1783080" cy="1600200"/>
          </a:xfrm>
          <a:prstGeom prst="roundRect">
            <a:avLst>
              <a:gd name="adj" fmla="val 5714"/>
            </a:avLst>
          </a:prstGeom>
          <a:solidFill>
            <a:srgbClr val="F1F3F7"/>
          </a:solidFill>
          <a:ln w="12700">
            <a:solidFill>
              <a:srgbClr val="F1F3F7"/>
            </a:solidFill>
            <a:prstDash val="solid"/>
          </a:ln>
        </p:spPr>
      </p:sp>
      <p:sp>
        <p:nvSpPr>
          <p:cNvPr id="6" name="Text 4"/>
          <p:cNvSpPr txBox="1"/>
          <p:nvPr/>
        </p:nvSpPr>
        <p:spPr>
          <a:xfrm>
            <a:off x="594360" y="1188720"/>
            <a:ext cx="1508760" cy="36576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汚染されたソース</a:t>
            </a:r>
            <a:endParaRPr lang="en-US" sz="1300" dirty="0"/>
          </a:p>
        </p:txBody>
      </p:sp>
      <p:sp>
        <p:nvSpPr>
          <p:cNvPr id="7" name="Text 5"/>
          <p:cNvSpPr txBox="1"/>
          <p:nvPr/>
        </p:nvSpPr>
        <p:spPr>
          <a:xfrm>
            <a:off x="594360" y="1600200"/>
            <a:ext cx="1508760" cy="96012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コードコメント、チケット、README、隠しHTML</a:t>
            </a:r>
            <a:endParaRPr lang="en-US" sz="1050" dirty="0"/>
          </a:p>
        </p:txBody>
      </p:sp>
      <p:sp>
        <p:nvSpPr>
          <p:cNvPr id="8" name="Shape 6"/>
          <p:cNvSpPr/>
          <p:nvPr/>
        </p:nvSpPr>
        <p:spPr>
          <a:xfrm>
            <a:off x="2267712" y="1673352"/>
            <a:ext cx="274320" cy="365760"/>
          </a:xfrm>
          <a:prstGeom prst="rightArrow">
            <a:avLst/>
          </a:prstGeom>
          <a:solidFill>
            <a:srgbClr val="5B6475"/>
          </a:solidFill>
          <a:ln w="12700">
            <a:solidFill>
              <a:srgbClr val="5B6475"/>
            </a:solidFill>
            <a:prstDash val="solid"/>
          </a:ln>
        </p:spPr>
      </p:sp>
      <p:sp>
        <p:nvSpPr>
          <p:cNvPr id="9" name="Shape 7"/>
          <p:cNvSpPr/>
          <p:nvPr/>
        </p:nvSpPr>
        <p:spPr>
          <a:xfrm>
            <a:off x="2560320" y="1051560"/>
            <a:ext cx="1783080" cy="1600200"/>
          </a:xfrm>
          <a:prstGeom prst="roundRect">
            <a:avLst>
              <a:gd name="adj" fmla="val 5714"/>
            </a:avLst>
          </a:prstGeom>
          <a:solidFill>
            <a:srgbClr val="F1F3F7"/>
          </a:solidFill>
          <a:ln w="12700">
            <a:solidFill>
              <a:srgbClr val="F1F3F7"/>
            </a:solidFill>
            <a:prstDash val="solid"/>
          </a:ln>
        </p:spPr>
      </p:sp>
      <p:sp>
        <p:nvSpPr>
          <p:cNvPr id="10" name="Text 8"/>
          <p:cNvSpPr txBox="1"/>
          <p:nvPr/>
        </p:nvSpPr>
        <p:spPr>
          <a:xfrm>
            <a:off x="2697480" y="1188720"/>
            <a:ext cx="1508760" cy="36576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エージェントが読込</a:t>
            </a:r>
            <a:endParaRPr lang="en-US" sz="1300" dirty="0"/>
          </a:p>
        </p:txBody>
      </p:sp>
      <p:sp>
        <p:nvSpPr>
          <p:cNvPr id="11" name="Text 9"/>
          <p:cNvSpPr txBox="1"/>
          <p:nvPr/>
        </p:nvSpPr>
        <p:spPr>
          <a:xfrm>
            <a:off x="2697480" y="1600200"/>
            <a:ext cx="1508760" cy="96012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/plan や /review で</a:t>
            </a:r>
            <a:endParaRPr lang="en-US" sz="1050" dirty="0"/>
          </a:p>
          <a:p>
            <a:pPr indent="0" marL="0">
              <a:buNone/>
            </a:pPr>
            <a:r>
              <a:rPr lang="en-US" sz="1050" dirty="0">
                <a:solidFill>
                  <a:srgbClr val="5B6475"/>
                </a:solidFill>
                <a:latin typeface="Yu Gothic" pitchFamily="34" charset="0"/>
                <a:ea typeface="Yu Gothic" pitchFamily="34" charset="-122"/>
                <a:cs typeface="Yu Gothic" pitchFamily="34" charset="-120"/>
              </a:rPr>
              <a:t>ファイルを読む</a:t>
            </a:r>
            <a:endParaRPr lang="en-US" sz="1050" dirty="0"/>
          </a:p>
        </p:txBody>
      </p:sp>
      <p:sp>
        <p:nvSpPr>
          <p:cNvPr id="12" name="Shape 10"/>
          <p:cNvSpPr/>
          <p:nvPr/>
        </p:nvSpPr>
        <p:spPr>
          <a:xfrm>
            <a:off x="4370832" y="1673352"/>
            <a:ext cx="274320" cy="365760"/>
          </a:xfrm>
          <a:prstGeom prst="rightArrow">
            <a:avLst/>
          </a:prstGeom>
          <a:solidFill>
            <a:srgbClr val="5B6475"/>
          </a:solidFill>
          <a:ln w="12700">
            <a:solidFill>
              <a:srgbClr val="5B6475"/>
            </a:solidFill>
            <a:prstDash val="solid"/>
          </a:ln>
        </p:spPr>
      </p:sp>
      <p:sp>
        <p:nvSpPr>
          <p:cNvPr id="13" name="Shape 11"/>
          <p:cNvSpPr/>
          <p:nvPr/>
        </p:nvSpPr>
        <p:spPr>
          <a:xfrm>
            <a:off x="4663440" y="1051560"/>
            <a:ext cx="1783080" cy="1600200"/>
          </a:xfrm>
          <a:prstGeom prst="roundRect">
            <a:avLst>
              <a:gd name="adj" fmla="val 5714"/>
            </a:avLst>
          </a:prstGeom>
          <a:solidFill>
            <a:srgbClr val="F1F3F7"/>
          </a:solidFill>
          <a:ln w="12700">
            <a:solidFill>
              <a:srgbClr val="F1F3F7"/>
            </a:solidFill>
            <a:prstDash val="solid"/>
          </a:ln>
        </p:spPr>
      </p:sp>
      <p:sp>
        <p:nvSpPr>
          <p:cNvPr id="14" name="Text 12"/>
          <p:cNvSpPr txBox="1"/>
          <p:nvPr/>
        </p:nvSpPr>
        <p:spPr>
          <a:xfrm>
            <a:off x="4800600" y="1188720"/>
            <a:ext cx="1508760" cy="365760"/>
          </a:xfrm>
          <a:prstGeom prst="rect">
            <a:avLst/>
          </a:prstGeom>
          <a:noFill/>
          <a:ln/>
        </p:spPr>
        <p:txBody>
          <a:bodyPr wrap="square" lIns="0" tIns="0" rIns="0" bIns="0" rtlCol="0" anchor="t"/>
          <a:lstStyle/>
          <a:p>
            <a:pPr indent="0" marL="0">
              <a:buNone/>
            </a:pPr>
            <a:r>
              <a:rPr lang="en-US" sz="1300" b="1" dirty="0">
                <a:solidFill>
                  <a:srgbClr val="1F2430"/>
                </a:solidFill>
                <a:latin typeface="Yu Gothic" pitchFamily="34" charset="0"/>
                <a:ea typeface="Yu Gothic" pitchFamily="34" charset="-122"/>
                <a:cs typeface="Yu Gothic" pitchFamily="34" charset="-120"/>
              </a:rPr>
              <a:t>ハイジャック</a:t>
            </a:r>
            <a:endParaRPr lang="en-US" sz="1300" dirty="0"/>
          </a:p>
        </p:txBody>
      </p:sp>
      <p:sp>
        <p:nvSpPr>
          <p:cNvPr id="15" name="Text 13"/>
          <p:cNvSpPr txBox="1"/>
          <p:nvPr/>
        </p:nvSpPr>
        <p:spPr>
          <a:xfrm>
            <a:off x="4800600" y="1600200"/>
            <a:ext cx="1508760" cy="960120"/>
          </a:xfrm>
          <a:prstGeom prst="rect">
            <a:avLst/>
          </a:prstGeom>
          <a:noFill/>
          <a:ln/>
        </p:spPr>
        <p:txBody>
          <a:bodyPr wrap="square" lIns="0" tIns="0" rIns="0" bIns="0" rtlCol="0" anchor="t"/>
          <a:lstStyle/>
          <a:p>
            <a:pPr indent="0" marL="0">
              <a:buNone/>
            </a:pPr>
            <a:r>
              <a:rPr lang="en-US" sz="1050" dirty="0">
                <a:solidFill>
                  <a:srgbClr val="5B6475"/>
                </a:solidFill>
                <a:latin typeface="Yu Gothic" pitchFamily="34" charset="0"/>
                <a:ea typeface="Yu Gothic" pitchFamily="34" charset="-122"/>
                <a:cs typeface="Yu Gothic" pitchFamily="34" charset="-120"/>
              </a:rPr>
              <a:t>指示とデータを</a:t>
            </a:r>
            <a:endParaRPr lang="en-US" sz="1050" dirty="0"/>
          </a:p>
          <a:p>
            <a:pPr indent="0" marL="0">
              <a:buNone/>
            </a:pPr>
            <a:r>
              <a:rPr lang="en-US" sz="1050" dirty="0">
                <a:solidFill>
                  <a:srgbClr val="5B6475"/>
                </a:solidFill>
                <a:latin typeface="Yu Gothic" pitchFamily="34" charset="0"/>
                <a:ea typeface="Yu Gothic" pitchFamily="34" charset="-122"/>
                <a:cs typeface="Yu Gothic" pitchFamily="34" charset="-120"/>
              </a:rPr>
              <a:t>区別できない</a:t>
            </a:r>
            <a:endParaRPr lang="en-US" sz="1050" dirty="0"/>
          </a:p>
        </p:txBody>
      </p:sp>
      <p:sp>
        <p:nvSpPr>
          <p:cNvPr id="16" name="Shape 14"/>
          <p:cNvSpPr/>
          <p:nvPr/>
        </p:nvSpPr>
        <p:spPr>
          <a:xfrm>
            <a:off x="6473952" y="1673352"/>
            <a:ext cx="274320" cy="365760"/>
          </a:xfrm>
          <a:prstGeom prst="rightArrow">
            <a:avLst/>
          </a:prstGeom>
          <a:solidFill>
            <a:srgbClr val="5B6475"/>
          </a:solidFill>
          <a:ln w="12700">
            <a:solidFill>
              <a:srgbClr val="5B6475"/>
            </a:solidFill>
            <a:prstDash val="solid"/>
          </a:ln>
        </p:spPr>
      </p:sp>
      <p:sp>
        <p:nvSpPr>
          <p:cNvPr id="17" name="Shape 15"/>
          <p:cNvSpPr/>
          <p:nvPr/>
        </p:nvSpPr>
        <p:spPr>
          <a:xfrm>
            <a:off x="6766560" y="1051560"/>
            <a:ext cx="1783080" cy="1600200"/>
          </a:xfrm>
          <a:prstGeom prst="roundRect">
            <a:avLst>
              <a:gd name="adj" fmla="val 5714"/>
            </a:avLst>
          </a:prstGeom>
          <a:solidFill>
            <a:srgbClr val="D64545"/>
          </a:solidFill>
          <a:ln w="12700">
            <a:solidFill>
              <a:srgbClr val="D64545"/>
            </a:solidFill>
            <a:prstDash val="solid"/>
          </a:ln>
        </p:spPr>
      </p:sp>
      <p:sp>
        <p:nvSpPr>
          <p:cNvPr id="18" name="Text 16"/>
          <p:cNvSpPr txBox="1"/>
          <p:nvPr/>
        </p:nvSpPr>
        <p:spPr>
          <a:xfrm>
            <a:off x="6903720" y="1188720"/>
            <a:ext cx="1508760" cy="365760"/>
          </a:xfrm>
          <a:prstGeom prst="rect">
            <a:avLst/>
          </a:prstGeom>
          <a:noFill/>
          <a:ln/>
        </p:spPr>
        <p:txBody>
          <a:bodyPr wrap="square" lIns="0" tIns="0" rIns="0" bIns="0" rtlCol="0" anchor="t"/>
          <a:lstStyle/>
          <a:p>
            <a:pPr indent="0" marL="0">
              <a:buNone/>
            </a:pPr>
            <a:r>
              <a:rPr lang="en-US" sz="1300" b="1" dirty="0">
                <a:solidFill>
                  <a:srgbClr val="FFFFFF"/>
                </a:solidFill>
                <a:latin typeface="Yu Gothic" pitchFamily="34" charset="0"/>
                <a:ea typeface="Yu Gothic" pitchFamily="34" charset="-122"/>
                <a:cs typeface="Yu Gothic" pitchFamily="34" charset="-120"/>
              </a:rPr>
              <a:t>データ流出</a:t>
            </a:r>
            <a:endParaRPr lang="en-US" sz="1300" dirty="0"/>
          </a:p>
        </p:txBody>
      </p:sp>
      <p:sp>
        <p:nvSpPr>
          <p:cNvPr id="19" name="Text 17"/>
          <p:cNvSpPr txBox="1"/>
          <p:nvPr/>
        </p:nvSpPr>
        <p:spPr>
          <a:xfrm>
            <a:off x="6903720" y="1600200"/>
            <a:ext cx="1508760" cy="960120"/>
          </a:xfrm>
          <a:prstGeom prst="rect">
            <a:avLst/>
          </a:prstGeom>
          <a:noFill/>
          <a:ln/>
        </p:spPr>
        <p:txBody>
          <a:bodyPr wrap="square" lIns="0" tIns="0" rIns="0" bIns="0" rtlCol="0" anchor="t"/>
          <a:lstStyle/>
          <a:p>
            <a:pPr indent="0" marL="0">
              <a:buNone/>
            </a:pPr>
            <a:r>
              <a:rPr lang="en-US" sz="1050" dirty="0">
                <a:solidFill>
                  <a:srgbClr val="FFFFFF"/>
                </a:solidFill>
                <a:latin typeface="Yu Gothic" pitchFamily="34" charset="0"/>
                <a:ea typeface="Yu Gothic" pitchFamily="34" charset="-122"/>
                <a:cs typeface="Yu Gothic" pitchFamily="34" charset="-120"/>
              </a:rPr>
              <a:t>~/.aws/credentials</a:t>
            </a:r>
            <a:endParaRPr lang="en-US" sz="1050" dirty="0"/>
          </a:p>
          <a:p>
            <a:pPr indent="0" marL="0">
              <a:buNone/>
            </a:pPr>
            <a:r>
              <a:rPr lang="en-US" sz="1050" dirty="0">
                <a:solidFill>
                  <a:srgbClr val="FFFFFF"/>
                </a:solidFill>
                <a:latin typeface="Yu Gothic" pitchFamily="34" charset="0"/>
                <a:ea typeface="Yu Gothic" pitchFamily="34" charset="-122"/>
                <a:cs typeface="Yu Gothic" pitchFamily="34" charset="-120"/>
              </a:rPr>
              <a:t>を外部へ送信</a:t>
            </a:r>
            <a:endParaRPr lang="en-US" sz="1050" dirty="0"/>
          </a:p>
        </p:txBody>
      </p:sp>
      <p:sp>
        <p:nvSpPr>
          <p:cNvPr id="20" name="Text 18"/>
          <p:cNvSpPr txBox="1"/>
          <p:nvPr/>
        </p:nvSpPr>
        <p:spPr>
          <a:xfrm>
            <a:off x="457200" y="2880360"/>
            <a:ext cx="2103120" cy="868680"/>
          </a:xfrm>
          <a:prstGeom prst="rect">
            <a:avLst/>
          </a:prstGeom>
          <a:noFill/>
          <a:ln/>
        </p:spPr>
        <p:txBody>
          <a:bodyPr wrap="square" lIns="0" tIns="0" rIns="0" bIns="0" rtlCol="0" anchor="t"/>
          <a:lstStyle/>
          <a:p>
            <a:pPr indent="0" marL="0">
              <a:buNone/>
            </a:pPr>
            <a:r>
              <a:rPr lang="en-US" sz="4800" b="1" dirty="0">
                <a:solidFill>
                  <a:srgbClr val="D64545"/>
                </a:solidFill>
                <a:latin typeface="Arial" pitchFamily="34" charset="0"/>
                <a:ea typeface="Arial" pitchFamily="34" charset="-122"/>
                <a:cs typeface="Arial" pitchFamily="34" charset="-120"/>
              </a:rPr>
              <a:t>84%</a:t>
            </a:r>
            <a:endParaRPr lang="en-US" sz="4800" dirty="0"/>
          </a:p>
        </p:txBody>
      </p:sp>
      <p:sp>
        <p:nvSpPr>
          <p:cNvPr id="21" name="Text 19"/>
          <p:cNvSpPr txBox="1"/>
          <p:nvPr/>
        </p:nvSpPr>
        <p:spPr>
          <a:xfrm>
            <a:off x="457200" y="3749040"/>
            <a:ext cx="2194560" cy="548640"/>
          </a:xfrm>
          <a:prstGeom prst="rect">
            <a:avLst/>
          </a:prstGeom>
          <a:noFill/>
          <a:ln/>
        </p:spPr>
        <p:txBody>
          <a:bodyPr wrap="square" lIns="0" tIns="0" rIns="0" bIns="0" rtlCol="0" anchor="t"/>
          <a:lstStyle/>
          <a:p>
            <a:pPr indent="0" marL="0">
              <a:buNone/>
            </a:pPr>
            <a:r>
              <a:rPr lang="en-US" sz="1100" dirty="0">
                <a:solidFill>
                  <a:srgbClr val="5B6475"/>
                </a:solidFill>
                <a:latin typeface="Yu Gothic" pitchFamily="34" charset="0"/>
                <a:ea typeface="Yu Gothic" pitchFamily="34" charset="-122"/>
                <a:cs typeface="Yu Gothic" pitchFamily="34" charset="-120"/>
              </a:rPr>
              <a:t>悪意あるコマンドの実行成功率（最大）[57]</a:t>
            </a:r>
            <a:endParaRPr lang="en-US" sz="1100" dirty="0"/>
          </a:p>
        </p:txBody>
      </p:sp>
      <p:sp>
        <p:nvSpPr>
          <p:cNvPr id="22" name="Text 20"/>
          <p:cNvSpPr txBox="1"/>
          <p:nvPr/>
        </p:nvSpPr>
        <p:spPr>
          <a:xfrm>
            <a:off x="2926080" y="2880360"/>
            <a:ext cx="5760720" cy="17373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OWASP Top 10 for Agentic Applications 2026で第1位のリスク：Agent Goal Hijacking (ASI01) [53]</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「Claudy Day」攻撃（2026年3月）：デフォルト設定のClaude Codeから会話履歴や機密データが流出しうることが示された [53]</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確認ダイアログより前にコマンドが実行される脆弱性：CVE-2025-65099、CVE-2025-62222 [57]</a:t>
            </a:r>
            <a:endParaRPr lang="en-US" sz="1200" dirty="0"/>
          </a:p>
        </p:txBody>
      </p:sp>
      <p:sp>
        <p:nvSpPr>
          <p:cNvPr id="23" name="Text 21"/>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出典：[53][54][57]</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自動実行フラグの罠と GuardFall</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27</a:t>
            </a:r>
            <a:endParaRPr lang="en-US" sz="800" dirty="0"/>
          </a:p>
        </p:txBody>
      </p:sp>
      <p:sp>
        <p:nvSpPr>
          <p:cNvPr id="5" name="Text 3"/>
          <p:cNvSpPr txBox="1"/>
          <p:nvPr/>
        </p:nvSpPr>
        <p:spPr>
          <a:xfrm>
            <a:off x="457200" y="1005840"/>
            <a:ext cx="3931920" cy="320040"/>
          </a:xfrm>
          <a:prstGeom prst="rect">
            <a:avLst/>
          </a:prstGeom>
          <a:noFill/>
          <a:ln/>
        </p:spPr>
        <p:txBody>
          <a:bodyPr wrap="square" lIns="0" tIns="0" rIns="0" bIns="0" rtlCol="0" anchor="t"/>
          <a:lstStyle/>
          <a:p>
            <a:pPr indent="0" marL="0">
              <a:buNone/>
            </a:pPr>
            <a:r>
              <a:rPr lang="en-US" sz="1400" b="1" dirty="0">
                <a:solidFill>
                  <a:srgbClr val="1F2430"/>
                </a:solidFill>
                <a:latin typeface="Yu Gothic" pitchFamily="34" charset="0"/>
                <a:ea typeface="Yu Gothic" pitchFamily="34" charset="-122"/>
                <a:cs typeface="Yu Gothic" pitchFamily="34" charset="-120"/>
              </a:rPr>
              <a:t>自動実行フラグ</a:t>
            </a:r>
            <a:endParaRPr lang="en-US" sz="1400" dirty="0"/>
          </a:p>
        </p:txBody>
      </p:sp>
      <p:sp>
        <p:nvSpPr>
          <p:cNvPr id="6" name="Shape 4"/>
          <p:cNvSpPr/>
          <p:nvPr/>
        </p:nvSpPr>
        <p:spPr>
          <a:xfrm>
            <a:off x="457200" y="1417320"/>
            <a:ext cx="3931920" cy="329184"/>
          </a:xfrm>
          <a:prstGeom prst="roundRect">
            <a:avLst>
              <a:gd name="adj" fmla="val 22222"/>
            </a:avLst>
          </a:prstGeom>
          <a:solidFill>
            <a:srgbClr val="161B26"/>
          </a:solidFill>
          <a:ln w="12700">
            <a:solidFill>
              <a:srgbClr val="161B26"/>
            </a:solidFill>
            <a:prstDash val="solid"/>
          </a:ln>
        </p:spPr>
      </p:sp>
      <p:sp>
        <p:nvSpPr>
          <p:cNvPr id="7" name="Text 5"/>
          <p:cNvSpPr txBox="1"/>
          <p:nvPr/>
        </p:nvSpPr>
        <p:spPr>
          <a:xfrm>
            <a:off x="457200" y="1417320"/>
            <a:ext cx="393192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--dangerously-skip-permissions</a:t>
            </a:r>
            <a:endParaRPr lang="en-US" sz="1200" dirty="0"/>
          </a:p>
        </p:txBody>
      </p:sp>
      <p:sp>
        <p:nvSpPr>
          <p:cNvPr id="8" name="Text 6"/>
          <p:cNvSpPr txBox="1"/>
          <p:nvPr/>
        </p:nvSpPr>
        <p:spPr>
          <a:xfrm>
            <a:off x="457200" y="1783080"/>
            <a:ext cx="3931920" cy="228600"/>
          </a:xfrm>
          <a:prstGeom prst="rect">
            <a:avLst/>
          </a:prstGeom>
          <a:noFill/>
          <a:ln/>
        </p:spPr>
        <p:txBody>
          <a:bodyPr wrap="square" lIns="0" tIns="0" rIns="0" bIns="0" rtlCol="0" anchor="t"/>
          <a:lstStyle/>
          <a:p>
            <a:pPr indent="0" marL="0">
              <a:buNone/>
            </a:pPr>
            <a:r>
              <a:rPr lang="en-US" sz="1000" dirty="0">
                <a:solidFill>
                  <a:srgbClr val="5B6475"/>
                </a:solidFill>
                <a:latin typeface="Yu Gothic" pitchFamily="34" charset="0"/>
                <a:ea typeface="Yu Gothic" pitchFamily="34" charset="-122"/>
                <a:cs typeface="Yu Gothic" pitchFamily="34" charset="-120"/>
              </a:rPr>
              <a:t>Claude Code</a:t>
            </a:r>
            <a:endParaRPr lang="en-US" sz="1000" dirty="0"/>
          </a:p>
        </p:txBody>
      </p:sp>
      <p:sp>
        <p:nvSpPr>
          <p:cNvPr id="9" name="Shape 7"/>
          <p:cNvSpPr/>
          <p:nvPr/>
        </p:nvSpPr>
        <p:spPr>
          <a:xfrm>
            <a:off x="457200" y="2103120"/>
            <a:ext cx="3931920" cy="329184"/>
          </a:xfrm>
          <a:prstGeom prst="roundRect">
            <a:avLst>
              <a:gd name="adj" fmla="val 22222"/>
            </a:avLst>
          </a:prstGeom>
          <a:solidFill>
            <a:srgbClr val="161B26"/>
          </a:solidFill>
          <a:ln w="12700">
            <a:solidFill>
              <a:srgbClr val="161B26"/>
            </a:solidFill>
            <a:prstDash val="solid"/>
          </a:ln>
        </p:spPr>
      </p:sp>
      <p:sp>
        <p:nvSpPr>
          <p:cNvPr id="10" name="Text 8"/>
          <p:cNvSpPr txBox="1"/>
          <p:nvPr/>
        </p:nvSpPr>
        <p:spPr>
          <a:xfrm>
            <a:off x="457200" y="2103120"/>
            <a:ext cx="3931920" cy="329184"/>
          </a:xfrm>
          <a:prstGeom prst="rect">
            <a:avLst/>
          </a:prstGeom>
          <a:noFill/>
          <a:ln/>
        </p:spPr>
        <p:txBody>
          <a:bodyPr wrap="square" lIns="0" tIns="0" rIns="0" bIns="0" rtlCol="0" anchor="ctr"/>
          <a:lstStyle/>
          <a:p>
            <a:pPr algn="ctr" indent="0" marL="0">
              <a:buNone/>
            </a:pPr>
            <a:r>
              <a:rPr lang="en-US" sz="1200" b="1" dirty="0">
                <a:solidFill>
                  <a:srgbClr val="F2A93B"/>
                </a:solidFill>
                <a:latin typeface="Courier New" pitchFamily="34" charset="0"/>
                <a:ea typeface="Courier New" pitchFamily="34" charset="-122"/>
                <a:cs typeface="Courier New" pitchFamily="34" charset="-120"/>
              </a:rPr>
              <a:t>--ask-for-approval never</a:t>
            </a:r>
            <a:endParaRPr lang="en-US" sz="1200" dirty="0"/>
          </a:p>
        </p:txBody>
      </p:sp>
      <p:sp>
        <p:nvSpPr>
          <p:cNvPr id="11" name="Text 9"/>
          <p:cNvSpPr txBox="1"/>
          <p:nvPr/>
        </p:nvSpPr>
        <p:spPr>
          <a:xfrm>
            <a:off x="457200" y="2468880"/>
            <a:ext cx="3931920" cy="228600"/>
          </a:xfrm>
          <a:prstGeom prst="rect">
            <a:avLst/>
          </a:prstGeom>
          <a:noFill/>
          <a:ln/>
        </p:spPr>
        <p:txBody>
          <a:bodyPr wrap="square" lIns="0" tIns="0" rIns="0" bIns="0" rtlCol="0" anchor="t"/>
          <a:lstStyle/>
          <a:p>
            <a:pPr indent="0" marL="0">
              <a:buNone/>
            </a:pPr>
            <a:r>
              <a:rPr lang="en-US" sz="1000" dirty="0">
                <a:solidFill>
                  <a:srgbClr val="5B6475"/>
                </a:solidFill>
                <a:latin typeface="Yu Gothic" pitchFamily="34" charset="0"/>
                <a:ea typeface="Yu Gothic" pitchFamily="34" charset="-122"/>
                <a:cs typeface="Yu Gothic" pitchFamily="34" charset="-120"/>
              </a:rPr>
              <a:t>Codex</a:t>
            </a:r>
            <a:endParaRPr lang="en-US" sz="1000" dirty="0"/>
          </a:p>
        </p:txBody>
      </p:sp>
      <p:sp>
        <p:nvSpPr>
          <p:cNvPr id="12" name="Text 10"/>
          <p:cNvSpPr txBox="1"/>
          <p:nvPr/>
        </p:nvSpPr>
        <p:spPr>
          <a:xfrm>
            <a:off x="457200" y="2834640"/>
            <a:ext cx="3931920" cy="178308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文字列マッチングのガードレールは、Bashの変数展開や難読化を解釈できない [58]</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悪意あるMakefileや偽装されたMCPレスポンスがすり抜ける</a:t>
            </a:r>
            <a:endParaRPr lang="en-US" sz="1200" dirty="0"/>
          </a:p>
          <a:p>
            <a:pPr marL="203200" indent="-203200">
              <a:spcAft>
                <a:spcPts val="600"/>
              </a:spcAft>
              <a:buSzPct val="100000"/>
              <a:buChar char="•"/>
            </a:pPr>
            <a:r>
              <a:rPr lang="en-US" sz="1200" dirty="0">
                <a:solidFill>
                  <a:srgbClr val="1F2430"/>
                </a:solidFill>
                <a:latin typeface="Yu Gothic" pitchFamily="34" charset="0"/>
                <a:ea typeface="Yu Gothic" pitchFamily="34" charset="-122"/>
                <a:cs typeface="Yu Gothic" pitchFamily="34" charset="-120"/>
              </a:rPr>
              <a:t>偽りの安心感からHuman-in-the-Loopが放棄される → GuardFall</a:t>
            </a:r>
            <a:endParaRPr lang="en-US" sz="1200" dirty="0"/>
          </a:p>
        </p:txBody>
      </p:sp>
      <p:sp>
        <p:nvSpPr>
          <p:cNvPr id="13" name="Shape 11"/>
          <p:cNvSpPr/>
          <p:nvPr/>
        </p:nvSpPr>
        <p:spPr>
          <a:xfrm>
            <a:off x="4709160" y="1005840"/>
            <a:ext cx="3977640" cy="3611880"/>
          </a:xfrm>
          <a:prstGeom prst="roundRect">
            <a:avLst>
              <a:gd name="adj" fmla="val 2532"/>
            </a:avLst>
          </a:prstGeom>
          <a:solidFill>
            <a:srgbClr val="161B26"/>
          </a:solidFill>
          <a:ln w="12700">
            <a:solidFill>
              <a:srgbClr val="161B26"/>
            </a:solidFill>
            <a:prstDash val="solid"/>
          </a:ln>
        </p:spPr>
      </p:sp>
      <p:sp>
        <p:nvSpPr>
          <p:cNvPr id="14" name="Text 12"/>
          <p:cNvSpPr txBox="1"/>
          <p:nvPr/>
        </p:nvSpPr>
        <p:spPr>
          <a:xfrm>
            <a:off x="4937760" y="1143000"/>
            <a:ext cx="3566160" cy="365760"/>
          </a:xfrm>
          <a:prstGeom prst="rect">
            <a:avLst/>
          </a:prstGeom>
          <a:noFill/>
          <a:ln/>
        </p:spPr>
        <p:txBody>
          <a:bodyPr wrap="square" lIns="0" tIns="0" rIns="0" bIns="0" rtlCol="0" anchor="t"/>
          <a:lstStyle/>
          <a:p>
            <a:pPr indent="0" marL="0">
              <a:buNone/>
            </a:pPr>
            <a:r>
              <a:rPr lang="en-US" sz="1600" b="1" dirty="0">
                <a:solidFill>
                  <a:srgbClr val="6FD3A8"/>
                </a:solidFill>
                <a:latin typeface="Yu Gothic" pitchFamily="34" charset="0"/>
                <a:ea typeface="Yu Gothic" pitchFamily="34" charset="-122"/>
                <a:cs typeface="Yu Gothic" pitchFamily="34" charset="-120"/>
              </a:rPr>
              <a:t>対策</a:t>
            </a:r>
            <a:endParaRPr lang="en-US" sz="1600" dirty="0"/>
          </a:p>
        </p:txBody>
      </p:sp>
      <p:sp>
        <p:nvSpPr>
          <p:cNvPr id="15" name="Text 13"/>
          <p:cNvSpPr txBox="1"/>
          <p:nvPr/>
        </p:nvSpPr>
        <p:spPr>
          <a:xfrm>
            <a:off x="4937760" y="1645920"/>
            <a:ext cx="365760" cy="365760"/>
          </a:xfrm>
          <a:prstGeom prst="rect">
            <a:avLst/>
          </a:prstGeom>
          <a:noFill/>
          <a:ln/>
        </p:spPr>
        <p:txBody>
          <a:bodyPr wrap="square" lIns="0" tIns="0" rIns="0" bIns="0" rtlCol="0" anchor="t"/>
          <a:lstStyle/>
          <a:p>
            <a:pPr indent="0" marL="0">
              <a:buNone/>
            </a:pPr>
            <a:r>
              <a:rPr lang="en-US" sz="1800" b="1" dirty="0">
                <a:solidFill>
                  <a:srgbClr val="F2A93B"/>
                </a:solidFill>
                <a:latin typeface="Courier New" pitchFamily="34" charset="0"/>
                <a:ea typeface="Courier New" pitchFamily="34" charset="-122"/>
                <a:cs typeface="Courier New" pitchFamily="34" charset="-120"/>
              </a:rPr>
              <a:t>1</a:t>
            </a:r>
            <a:endParaRPr lang="en-US" sz="1800" dirty="0"/>
          </a:p>
        </p:txBody>
      </p:sp>
      <p:sp>
        <p:nvSpPr>
          <p:cNvPr id="16" name="Text 14"/>
          <p:cNvSpPr txBox="1"/>
          <p:nvPr/>
        </p:nvSpPr>
        <p:spPr>
          <a:xfrm>
            <a:off x="5349240" y="1645920"/>
            <a:ext cx="3154680" cy="320040"/>
          </a:xfrm>
          <a:prstGeom prst="rect">
            <a:avLst/>
          </a:prstGeom>
          <a:noFill/>
          <a:ln/>
        </p:spPr>
        <p:txBody>
          <a:bodyPr wrap="square" lIns="0" tIns="0" rIns="0" bIns="0" rtlCol="0" anchor="t"/>
          <a:lstStyle/>
          <a:p>
            <a:pPr indent="0" marL="0">
              <a:buNone/>
            </a:pPr>
            <a:r>
              <a:rPr lang="en-US" sz="1300" b="1" dirty="0">
                <a:solidFill>
                  <a:srgbClr val="FFFFFF"/>
                </a:solidFill>
                <a:latin typeface="Yu Gothic" pitchFamily="34" charset="0"/>
                <a:ea typeface="Yu Gothic" pitchFamily="34" charset="-122"/>
                <a:cs typeface="Yu Gothic" pitchFamily="34" charset="-120"/>
              </a:rPr>
              <a:t>最小特権</a:t>
            </a:r>
            <a:endParaRPr lang="en-US" sz="1300" dirty="0"/>
          </a:p>
        </p:txBody>
      </p:sp>
      <p:sp>
        <p:nvSpPr>
          <p:cNvPr id="17" name="Text 15"/>
          <p:cNvSpPr txBox="1"/>
          <p:nvPr/>
        </p:nvSpPr>
        <p:spPr>
          <a:xfrm>
            <a:off x="5349240" y="1984248"/>
            <a:ext cx="3154680" cy="502920"/>
          </a:xfrm>
          <a:prstGeom prst="rect">
            <a:avLst/>
          </a:prstGeom>
          <a:noFill/>
          <a:ln/>
        </p:spPr>
        <p:txBody>
          <a:bodyPr wrap="square" lIns="0" tIns="0" rIns="0" bIns="0" rtlCol="0" anchor="t"/>
          <a:lstStyle/>
          <a:p>
            <a:pPr indent="0" marL="0">
              <a:buNone/>
            </a:pPr>
            <a:r>
              <a:rPr lang="en-US" sz="1100" dirty="0">
                <a:solidFill>
                  <a:srgbClr val="C9D0DD"/>
                </a:solidFill>
                <a:latin typeface="Yu Gothic" pitchFamily="34" charset="0"/>
                <a:ea typeface="Yu Gothic" pitchFamily="34" charset="-122"/>
                <a:cs typeface="Yu Gothic" pitchFamily="34" charset="-120"/>
              </a:rPr>
              <a:t>ツールへのアクセス権限を最小限に制限する</a:t>
            </a:r>
            <a:endParaRPr lang="en-US" sz="1100" dirty="0"/>
          </a:p>
        </p:txBody>
      </p:sp>
      <p:sp>
        <p:nvSpPr>
          <p:cNvPr id="18" name="Text 16"/>
          <p:cNvSpPr txBox="1"/>
          <p:nvPr/>
        </p:nvSpPr>
        <p:spPr>
          <a:xfrm>
            <a:off x="4937760" y="2606040"/>
            <a:ext cx="365760" cy="365760"/>
          </a:xfrm>
          <a:prstGeom prst="rect">
            <a:avLst/>
          </a:prstGeom>
          <a:noFill/>
          <a:ln/>
        </p:spPr>
        <p:txBody>
          <a:bodyPr wrap="square" lIns="0" tIns="0" rIns="0" bIns="0" rtlCol="0" anchor="t"/>
          <a:lstStyle/>
          <a:p>
            <a:pPr indent="0" marL="0">
              <a:buNone/>
            </a:pPr>
            <a:r>
              <a:rPr lang="en-US" sz="1800" b="1" dirty="0">
                <a:solidFill>
                  <a:srgbClr val="F2A93B"/>
                </a:solidFill>
                <a:latin typeface="Courier New" pitchFamily="34" charset="0"/>
                <a:ea typeface="Courier New" pitchFamily="34" charset="-122"/>
                <a:cs typeface="Courier New" pitchFamily="34" charset="-120"/>
              </a:rPr>
              <a:t>2</a:t>
            </a:r>
            <a:endParaRPr lang="en-US" sz="1800" dirty="0"/>
          </a:p>
        </p:txBody>
      </p:sp>
      <p:sp>
        <p:nvSpPr>
          <p:cNvPr id="19" name="Text 17"/>
          <p:cNvSpPr txBox="1"/>
          <p:nvPr/>
        </p:nvSpPr>
        <p:spPr>
          <a:xfrm>
            <a:off x="5349240" y="2606040"/>
            <a:ext cx="3154680" cy="320040"/>
          </a:xfrm>
          <a:prstGeom prst="rect">
            <a:avLst/>
          </a:prstGeom>
          <a:noFill/>
          <a:ln/>
        </p:spPr>
        <p:txBody>
          <a:bodyPr wrap="square" lIns="0" tIns="0" rIns="0" bIns="0" rtlCol="0" anchor="t"/>
          <a:lstStyle/>
          <a:p>
            <a:pPr indent="0" marL="0">
              <a:buNone/>
            </a:pPr>
            <a:r>
              <a:rPr lang="en-US" sz="1300" b="1" dirty="0">
                <a:solidFill>
                  <a:srgbClr val="FFFFFF"/>
                </a:solidFill>
                <a:latin typeface="Yu Gothic" pitchFamily="34" charset="0"/>
                <a:ea typeface="Yu Gothic" pitchFamily="34" charset="-122"/>
                <a:cs typeface="Yu Gothic" pitchFamily="34" charset="-120"/>
              </a:rPr>
              <a:t>MCPゲートウェイ</a:t>
            </a:r>
            <a:endParaRPr lang="en-US" sz="1300" dirty="0"/>
          </a:p>
        </p:txBody>
      </p:sp>
      <p:sp>
        <p:nvSpPr>
          <p:cNvPr id="20" name="Text 18"/>
          <p:cNvSpPr txBox="1"/>
          <p:nvPr/>
        </p:nvSpPr>
        <p:spPr>
          <a:xfrm>
            <a:off x="5349240" y="2944368"/>
            <a:ext cx="3154680" cy="502920"/>
          </a:xfrm>
          <a:prstGeom prst="rect">
            <a:avLst/>
          </a:prstGeom>
          <a:noFill/>
          <a:ln/>
        </p:spPr>
        <p:txBody>
          <a:bodyPr wrap="square" lIns="0" tIns="0" rIns="0" bIns="0" rtlCol="0" anchor="t"/>
          <a:lstStyle/>
          <a:p>
            <a:pPr indent="0" marL="0">
              <a:buNone/>
            </a:pPr>
            <a:r>
              <a:rPr lang="en-US" sz="1100" dirty="0">
                <a:solidFill>
                  <a:srgbClr val="C9D0DD"/>
                </a:solidFill>
                <a:latin typeface="Yu Gothic" pitchFamily="34" charset="0"/>
                <a:ea typeface="Yu Gothic" pitchFamily="34" charset="-122"/>
                <a:cs typeface="Yu Gothic" pitchFamily="34" charset="-120"/>
              </a:rPr>
              <a:t>タスクごとに呼び出せるAPIのスコープを分ける [53]</a:t>
            </a:r>
            <a:endParaRPr lang="en-US" sz="1100" dirty="0"/>
          </a:p>
        </p:txBody>
      </p:sp>
      <p:sp>
        <p:nvSpPr>
          <p:cNvPr id="21" name="Text 19"/>
          <p:cNvSpPr txBox="1"/>
          <p:nvPr/>
        </p:nvSpPr>
        <p:spPr>
          <a:xfrm>
            <a:off x="4937760" y="3566160"/>
            <a:ext cx="365760" cy="365760"/>
          </a:xfrm>
          <a:prstGeom prst="rect">
            <a:avLst/>
          </a:prstGeom>
          <a:noFill/>
          <a:ln/>
        </p:spPr>
        <p:txBody>
          <a:bodyPr wrap="square" lIns="0" tIns="0" rIns="0" bIns="0" rtlCol="0" anchor="t"/>
          <a:lstStyle/>
          <a:p>
            <a:pPr indent="0" marL="0">
              <a:buNone/>
            </a:pPr>
            <a:r>
              <a:rPr lang="en-US" sz="1800" b="1" dirty="0">
                <a:solidFill>
                  <a:srgbClr val="F2A93B"/>
                </a:solidFill>
                <a:latin typeface="Courier New" pitchFamily="34" charset="0"/>
                <a:ea typeface="Courier New" pitchFamily="34" charset="-122"/>
                <a:cs typeface="Courier New" pitchFamily="34" charset="-120"/>
              </a:rPr>
              <a:t>3</a:t>
            </a:r>
            <a:endParaRPr lang="en-US" sz="1800" dirty="0"/>
          </a:p>
        </p:txBody>
      </p:sp>
      <p:sp>
        <p:nvSpPr>
          <p:cNvPr id="22" name="Text 20"/>
          <p:cNvSpPr txBox="1"/>
          <p:nvPr/>
        </p:nvSpPr>
        <p:spPr>
          <a:xfrm>
            <a:off x="5349240" y="3566160"/>
            <a:ext cx="3154680" cy="320040"/>
          </a:xfrm>
          <a:prstGeom prst="rect">
            <a:avLst/>
          </a:prstGeom>
          <a:noFill/>
          <a:ln/>
        </p:spPr>
        <p:txBody>
          <a:bodyPr wrap="square" lIns="0" tIns="0" rIns="0" bIns="0" rtlCol="0" anchor="t"/>
          <a:lstStyle/>
          <a:p>
            <a:pPr indent="0" marL="0">
              <a:buNone/>
            </a:pPr>
            <a:r>
              <a:rPr lang="en-US" sz="1300" b="1" dirty="0">
                <a:solidFill>
                  <a:srgbClr val="FFFFFF"/>
                </a:solidFill>
                <a:latin typeface="Yu Gothic" pitchFamily="34" charset="0"/>
                <a:ea typeface="Yu Gothic" pitchFamily="34" charset="-122"/>
                <a:cs typeface="Yu Gothic" pitchFamily="34" charset="-120"/>
              </a:rPr>
              <a:t>認証情報の隔離</a:t>
            </a:r>
            <a:endParaRPr lang="en-US" sz="1300" dirty="0"/>
          </a:p>
        </p:txBody>
      </p:sp>
      <p:sp>
        <p:nvSpPr>
          <p:cNvPr id="23" name="Text 21"/>
          <p:cNvSpPr txBox="1"/>
          <p:nvPr/>
        </p:nvSpPr>
        <p:spPr>
          <a:xfrm>
            <a:off x="5349240" y="3904488"/>
            <a:ext cx="3154680" cy="502920"/>
          </a:xfrm>
          <a:prstGeom prst="rect">
            <a:avLst/>
          </a:prstGeom>
          <a:noFill/>
          <a:ln/>
        </p:spPr>
        <p:txBody>
          <a:bodyPr wrap="square" lIns="0" tIns="0" rIns="0" bIns="0" rtlCol="0" anchor="t"/>
          <a:lstStyle/>
          <a:p>
            <a:pPr indent="0" marL="0">
              <a:buNone/>
            </a:pPr>
            <a:r>
              <a:rPr lang="en-US" sz="1100" dirty="0">
                <a:solidFill>
                  <a:srgbClr val="C9D0DD"/>
                </a:solidFill>
                <a:latin typeface="Yu Gothic" pitchFamily="34" charset="0"/>
                <a:ea typeface="Yu Gothic" pitchFamily="34" charset="-122"/>
                <a:cs typeface="Yu Gothic" pitchFamily="34" charset="-120"/>
              </a:rPr>
              <a:t>ワークスペースに本番の認証情報を置かない [54]</a:t>
            </a:r>
            <a:endParaRPr lang="en-US" sz="1100" dirty="0"/>
          </a:p>
        </p:txBody>
      </p:sp>
      <p:sp>
        <p:nvSpPr>
          <p:cNvPr id="24" name="Text 22"/>
          <p:cNvSpPr txBox="1"/>
          <p:nvPr/>
        </p:nvSpPr>
        <p:spPr>
          <a:xfrm>
            <a:off x="5029200" y="4828032"/>
            <a:ext cx="338328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出典：[37][53][54][58]</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B26"/>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FFFFFF"/>
                </a:solidFill>
                <a:latin typeface="Yu Gothic" pitchFamily="34" charset="0"/>
                <a:ea typeface="Yu Gothic" pitchFamily="34" charset="-122"/>
                <a:cs typeface="Yu Gothic" pitchFamily="34" charset="-120"/>
              </a:rPr>
              <a:t>まとめ</a:t>
            </a:r>
            <a:endParaRPr lang="en-US" sz="2400" dirty="0"/>
          </a:p>
        </p:txBody>
      </p:sp>
      <p:sp>
        <p:nvSpPr>
          <p:cNvPr id="4" name="Text 2"/>
          <p:cNvSpPr txBox="1"/>
          <p:nvPr/>
        </p:nvSpPr>
        <p:spPr>
          <a:xfrm>
            <a:off x="457200" y="914400"/>
            <a:ext cx="8229600" cy="548640"/>
          </a:xfrm>
          <a:prstGeom prst="rect">
            <a:avLst/>
          </a:prstGeom>
          <a:noFill/>
          <a:ln/>
        </p:spPr>
        <p:txBody>
          <a:bodyPr wrap="square" lIns="0" tIns="0" rIns="0" bIns="0" rtlCol="0" anchor="t"/>
          <a:lstStyle/>
          <a:p>
            <a:pPr indent="0" marL="0">
              <a:buNone/>
            </a:pPr>
            <a:r>
              <a:rPr lang="en-US" sz="1500" b="1" dirty="0">
                <a:solidFill>
                  <a:srgbClr val="F2A93B"/>
                </a:solidFill>
                <a:latin typeface="Yu Gothic" pitchFamily="34" charset="0"/>
                <a:ea typeface="Yu Gothic" pitchFamily="34" charset="-122"/>
                <a:cs typeface="Yu Gothic" pitchFamily="34" charset="-120"/>
              </a:rPr>
              <a:t>単一のプロンプト入力から、スラッシュコマンドを起点とした「意図の宣言と構造化されたワークフロー」へ</a:t>
            </a:r>
            <a:endParaRPr lang="en-US" sz="1500" dirty="0"/>
          </a:p>
        </p:txBody>
      </p:sp>
      <p:sp>
        <p:nvSpPr>
          <p:cNvPr id="5" name="Shape 3"/>
          <p:cNvSpPr/>
          <p:nvPr/>
        </p:nvSpPr>
        <p:spPr>
          <a:xfrm>
            <a:off x="457200" y="1600200"/>
            <a:ext cx="2615184" cy="1554480"/>
          </a:xfrm>
          <a:prstGeom prst="roundRect">
            <a:avLst>
              <a:gd name="adj" fmla="val 5882"/>
            </a:avLst>
          </a:prstGeom>
          <a:solidFill>
            <a:srgbClr val="232A38"/>
          </a:solidFill>
          <a:ln w="12700">
            <a:solidFill>
              <a:srgbClr val="232A38"/>
            </a:solidFill>
            <a:prstDash val="solid"/>
          </a:ln>
        </p:spPr>
      </p:sp>
      <p:sp>
        <p:nvSpPr>
          <p:cNvPr id="6" name="Shape 4"/>
          <p:cNvSpPr/>
          <p:nvPr/>
        </p:nvSpPr>
        <p:spPr>
          <a:xfrm>
            <a:off x="640080" y="1737360"/>
            <a:ext cx="2249424" cy="329184"/>
          </a:xfrm>
          <a:prstGeom prst="roundRect">
            <a:avLst>
              <a:gd name="adj" fmla="val 22222"/>
            </a:avLst>
          </a:prstGeom>
          <a:solidFill>
            <a:srgbClr val="C96442"/>
          </a:solidFill>
          <a:ln w="12700">
            <a:solidFill>
              <a:srgbClr val="C96442"/>
            </a:solidFill>
            <a:prstDash val="solid"/>
          </a:ln>
        </p:spPr>
      </p:sp>
      <p:sp>
        <p:nvSpPr>
          <p:cNvPr id="7" name="Text 5"/>
          <p:cNvSpPr txBox="1"/>
          <p:nvPr/>
        </p:nvSpPr>
        <p:spPr>
          <a:xfrm>
            <a:off x="640080" y="1737360"/>
            <a:ext cx="22494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Claude Code</a:t>
            </a:r>
            <a:endParaRPr lang="en-US" sz="1200" dirty="0"/>
          </a:p>
        </p:txBody>
      </p:sp>
      <p:sp>
        <p:nvSpPr>
          <p:cNvPr id="8" name="Text 6"/>
          <p:cNvSpPr txBox="1"/>
          <p:nvPr/>
        </p:nvSpPr>
        <p:spPr>
          <a:xfrm>
            <a:off x="640080" y="2194560"/>
            <a:ext cx="2249424" cy="868680"/>
          </a:xfrm>
          <a:prstGeom prst="rect">
            <a:avLst/>
          </a:prstGeom>
          <a:noFill/>
          <a:ln/>
        </p:spPr>
        <p:txBody>
          <a:bodyPr wrap="square" lIns="0" tIns="0" rIns="0" bIns="0" rtlCol="0" anchor="t"/>
          <a:lstStyle/>
          <a:p>
            <a:pPr indent="0" marL="0">
              <a:buNone/>
            </a:pPr>
            <a:r>
              <a:rPr lang="en-US" sz="1150" dirty="0">
                <a:solidFill>
                  <a:srgbClr val="FFFFFF"/>
                </a:solidFill>
                <a:latin typeface="Yu Gothic" pitchFamily="34" charset="0"/>
                <a:ea typeface="Yu Gothic" pitchFamily="34" charset="-122"/>
                <a:cs typeface="Yu Gothic" pitchFamily="34" charset="-120"/>
              </a:rPr>
              <a:t>Markdownベースの柔軟な拡張と深層推論。探求的な開発の第一選択肢</a:t>
            </a:r>
            <a:endParaRPr lang="en-US" sz="1150" dirty="0"/>
          </a:p>
        </p:txBody>
      </p:sp>
      <p:sp>
        <p:nvSpPr>
          <p:cNvPr id="9" name="Shape 7"/>
          <p:cNvSpPr/>
          <p:nvPr/>
        </p:nvSpPr>
        <p:spPr>
          <a:xfrm>
            <a:off x="3264408" y="1600200"/>
            <a:ext cx="2615184" cy="1554480"/>
          </a:xfrm>
          <a:prstGeom prst="roundRect">
            <a:avLst>
              <a:gd name="adj" fmla="val 5882"/>
            </a:avLst>
          </a:prstGeom>
          <a:solidFill>
            <a:srgbClr val="232A38"/>
          </a:solidFill>
          <a:ln w="12700">
            <a:solidFill>
              <a:srgbClr val="232A38"/>
            </a:solidFill>
            <a:prstDash val="solid"/>
          </a:ln>
        </p:spPr>
      </p:sp>
      <p:sp>
        <p:nvSpPr>
          <p:cNvPr id="10" name="Shape 8"/>
          <p:cNvSpPr/>
          <p:nvPr/>
        </p:nvSpPr>
        <p:spPr>
          <a:xfrm>
            <a:off x="3447288" y="1737360"/>
            <a:ext cx="2249424" cy="329184"/>
          </a:xfrm>
          <a:prstGeom prst="roundRect">
            <a:avLst>
              <a:gd name="adj" fmla="val 22222"/>
            </a:avLst>
          </a:prstGeom>
          <a:solidFill>
            <a:srgbClr val="3A78E8"/>
          </a:solidFill>
          <a:ln w="12700">
            <a:solidFill>
              <a:srgbClr val="3A78E8"/>
            </a:solidFill>
            <a:prstDash val="solid"/>
          </a:ln>
        </p:spPr>
      </p:sp>
      <p:sp>
        <p:nvSpPr>
          <p:cNvPr id="11" name="Text 9"/>
          <p:cNvSpPr txBox="1"/>
          <p:nvPr/>
        </p:nvSpPr>
        <p:spPr>
          <a:xfrm>
            <a:off x="3447288" y="1737360"/>
            <a:ext cx="22494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Antigravity</a:t>
            </a:r>
            <a:endParaRPr lang="en-US" sz="1200" dirty="0"/>
          </a:p>
        </p:txBody>
      </p:sp>
      <p:sp>
        <p:nvSpPr>
          <p:cNvPr id="12" name="Text 10"/>
          <p:cNvSpPr txBox="1"/>
          <p:nvPr/>
        </p:nvSpPr>
        <p:spPr>
          <a:xfrm>
            <a:off x="3447288" y="2194560"/>
            <a:ext cx="2249424" cy="868680"/>
          </a:xfrm>
          <a:prstGeom prst="rect">
            <a:avLst/>
          </a:prstGeom>
          <a:noFill/>
          <a:ln/>
        </p:spPr>
        <p:txBody>
          <a:bodyPr wrap="square" lIns="0" tIns="0" rIns="0" bIns="0" rtlCol="0" anchor="t"/>
          <a:lstStyle/>
          <a:p>
            <a:pPr indent="0" marL="0">
              <a:buNone/>
            </a:pPr>
            <a:r>
              <a:rPr lang="en-US" sz="1150" dirty="0">
                <a:solidFill>
                  <a:srgbClr val="FFFFFF"/>
                </a:solidFill>
                <a:latin typeface="Yu Gothic" pitchFamily="34" charset="0"/>
                <a:ea typeface="Yu Gothic" pitchFamily="34" charset="-122"/>
                <a:cs typeface="Yu Gothic" pitchFamily="34" charset="-120"/>
              </a:rPr>
              <a:t>軽量なCLIとGUIの統合、マルチエージェントのオーケストレーション</a:t>
            </a:r>
            <a:endParaRPr lang="en-US" sz="1150" dirty="0"/>
          </a:p>
        </p:txBody>
      </p:sp>
      <p:sp>
        <p:nvSpPr>
          <p:cNvPr id="13" name="Shape 11"/>
          <p:cNvSpPr/>
          <p:nvPr/>
        </p:nvSpPr>
        <p:spPr>
          <a:xfrm>
            <a:off x="6071616" y="1600200"/>
            <a:ext cx="2615184" cy="1554480"/>
          </a:xfrm>
          <a:prstGeom prst="roundRect">
            <a:avLst>
              <a:gd name="adj" fmla="val 5882"/>
            </a:avLst>
          </a:prstGeom>
          <a:solidFill>
            <a:srgbClr val="232A38"/>
          </a:solidFill>
          <a:ln w="12700">
            <a:solidFill>
              <a:srgbClr val="232A38"/>
            </a:solidFill>
            <a:prstDash val="solid"/>
          </a:ln>
        </p:spPr>
      </p:sp>
      <p:sp>
        <p:nvSpPr>
          <p:cNvPr id="14" name="Shape 12"/>
          <p:cNvSpPr/>
          <p:nvPr/>
        </p:nvSpPr>
        <p:spPr>
          <a:xfrm>
            <a:off x="6254496" y="1737360"/>
            <a:ext cx="2249424" cy="329184"/>
          </a:xfrm>
          <a:prstGeom prst="roundRect">
            <a:avLst>
              <a:gd name="adj" fmla="val 22222"/>
            </a:avLst>
          </a:prstGeom>
          <a:solidFill>
            <a:srgbClr val="0E9F7A"/>
          </a:solidFill>
          <a:ln w="12700">
            <a:solidFill>
              <a:srgbClr val="0E9F7A"/>
            </a:solidFill>
            <a:prstDash val="solid"/>
          </a:ln>
        </p:spPr>
      </p:sp>
      <p:sp>
        <p:nvSpPr>
          <p:cNvPr id="15" name="Text 13"/>
          <p:cNvSpPr txBox="1"/>
          <p:nvPr/>
        </p:nvSpPr>
        <p:spPr>
          <a:xfrm>
            <a:off x="6254496" y="1737360"/>
            <a:ext cx="224942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Codex</a:t>
            </a:r>
            <a:endParaRPr lang="en-US" sz="1200" dirty="0"/>
          </a:p>
        </p:txBody>
      </p:sp>
      <p:sp>
        <p:nvSpPr>
          <p:cNvPr id="16" name="Text 14"/>
          <p:cNvSpPr txBox="1"/>
          <p:nvPr/>
        </p:nvSpPr>
        <p:spPr>
          <a:xfrm>
            <a:off x="6254496" y="2194560"/>
            <a:ext cx="2249424" cy="868680"/>
          </a:xfrm>
          <a:prstGeom prst="rect">
            <a:avLst/>
          </a:prstGeom>
          <a:noFill/>
          <a:ln/>
        </p:spPr>
        <p:txBody>
          <a:bodyPr wrap="square" lIns="0" tIns="0" rIns="0" bIns="0" rtlCol="0" anchor="t"/>
          <a:lstStyle/>
          <a:p>
            <a:pPr indent="0" marL="0">
              <a:buNone/>
            </a:pPr>
            <a:r>
              <a:rPr lang="en-US" sz="1150" dirty="0">
                <a:solidFill>
                  <a:srgbClr val="FFFFFF"/>
                </a:solidFill>
                <a:latin typeface="Yu Gothic" pitchFamily="34" charset="0"/>
                <a:ea typeface="Yu Gothic" pitchFamily="34" charset="-122"/>
                <a:cs typeface="Yu Gothic" pitchFamily="34" charset="-120"/>
              </a:rPr>
              <a:t>階層型AGENTS.md、厳格なサンドボックス、非対話型の自動化</a:t>
            </a:r>
            <a:endParaRPr lang="en-US" sz="1150" dirty="0"/>
          </a:p>
        </p:txBody>
      </p:sp>
      <p:sp>
        <p:nvSpPr>
          <p:cNvPr id="17" name="Text 15"/>
          <p:cNvSpPr txBox="1"/>
          <p:nvPr/>
        </p:nvSpPr>
        <p:spPr>
          <a:xfrm>
            <a:off x="457200" y="3383280"/>
            <a:ext cx="8229600" cy="411480"/>
          </a:xfrm>
          <a:prstGeom prst="rect">
            <a:avLst/>
          </a:prstGeom>
          <a:noFill/>
          <a:ln/>
        </p:spPr>
        <p:txBody>
          <a:bodyPr wrap="square" lIns="0" tIns="0" rIns="0" bIns="0" rtlCol="0" anchor="t"/>
          <a:lstStyle/>
          <a:p>
            <a:pPr indent="0" marL="0">
              <a:buNone/>
            </a:pPr>
            <a:r>
              <a:rPr lang="en-US" sz="1300" b="1" dirty="0">
                <a:solidFill>
                  <a:srgbClr val="6FD3A8"/>
                </a:solidFill>
                <a:latin typeface="Yu Gothic" pitchFamily="34" charset="0"/>
                <a:ea typeface="Yu Gothic" pitchFamily="34" charset="-122"/>
                <a:cs typeface="Yu Gothic" pitchFamily="34" charset="-120"/>
              </a:rPr>
              <a:t>共通基盤  </a:t>
            </a:r>
            <a:pPr indent="0" marL="0">
              <a:buNone/>
            </a:pPr>
            <a:r>
              <a:rPr lang="en-US" sz="1300" dirty="0">
                <a:solidFill>
                  <a:srgbClr val="FFFFFF"/>
                </a:solidFill>
                <a:latin typeface="Yu Gothic" pitchFamily="34" charset="0"/>
                <a:ea typeface="Yu Gothic" pitchFamily="34" charset="-122"/>
                <a:cs typeface="Yu Gothic" pitchFamily="34" charset="-120"/>
              </a:rPr>
              <a:t>MCPによる動的ロードと、トークン爆発を防ぐコンテキストエンジニアリング</a:t>
            </a:r>
            <a:endParaRPr lang="en-US" sz="1300" dirty="0"/>
          </a:p>
        </p:txBody>
      </p:sp>
      <p:sp>
        <p:nvSpPr>
          <p:cNvPr id="18" name="Text 16"/>
          <p:cNvSpPr txBox="1"/>
          <p:nvPr/>
        </p:nvSpPr>
        <p:spPr>
          <a:xfrm>
            <a:off x="457200" y="3840480"/>
            <a:ext cx="8229600" cy="685800"/>
          </a:xfrm>
          <a:prstGeom prst="rect">
            <a:avLst/>
          </a:prstGeom>
          <a:noFill/>
          <a:ln/>
        </p:spPr>
        <p:txBody>
          <a:bodyPr wrap="square" lIns="0" tIns="0" rIns="0" bIns="0" rtlCol="0" anchor="t"/>
          <a:lstStyle/>
          <a:p>
            <a:pPr indent="0" marL="0">
              <a:buNone/>
            </a:pPr>
            <a:r>
              <a:rPr lang="en-US" sz="1300" b="1" dirty="0">
                <a:solidFill>
                  <a:srgbClr val="FF8A80"/>
                </a:solidFill>
                <a:latin typeface="Yu Gothic" pitchFamily="34" charset="0"/>
                <a:ea typeface="Yu Gothic" pitchFamily="34" charset="-122"/>
                <a:cs typeface="Yu Gothic" pitchFamily="34" charset="-120"/>
              </a:rPr>
              <a:t>課題  </a:t>
            </a:r>
            <a:pPr indent="0" marL="0">
              <a:buNone/>
            </a:pPr>
            <a:r>
              <a:rPr lang="en-US" sz="1300" dirty="0">
                <a:solidFill>
                  <a:srgbClr val="FFFFFF"/>
                </a:solidFill>
                <a:latin typeface="Yu Gothic" pitchFamily="34" charset="0"/>
                <a:ea typeface="Yu Gothic" pitchFamily="34" charset="-122"/>
                <a:cs typeface="Yu Gothic" pitchFamily="34" charset="-120"/>
              </a:rPr>
              <a:t>間接的プロンプトインジェクション → AGENTS.md / SKILL.md によるガバナンス、ツールアクセスの最小化、自動実行モードの監査</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参考文献（1/2）</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29</a:t>
            </a:r>
            <a:endParaRPr lang="en-US" sz="800" dirty="0"/>
          </a:p>
        </p:txBody>
      </p:sp>
      <p:sp>
        <p:nvSpPr>
          <p:cNvPr id="5" name="Text 3"/>
          <p:cNvSpPr txBox="1"/>
          <p:nvPr/>
        </p:nvSpPr>
        <p:spPr>
          <a:xfrm>
            <a:off x="457200" y="960120"/>
            <a:ext cx="8229600" cy="3749040"/>
          </a:xfrm>
          <a:prstGeom prst="rect">
            <a:avLst/>
          </a:prstGeom>
          <a:noFill/>
          <a:ln/>
        </p:spPr>
        <p:txBody>
          <a:bodyPr wrap="square" lIns="0" tIns="0" rIns="0" bIns="0" rtlCol="0" anchor="t"/>
          <a:lstStyle/>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[1]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Antigravity 2.0・IDE・CLIの違いを整理してみた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https://www.yoshidumi.co.jp/collaboration-lab/antigravity2.0-ide-cli</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[3]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Model Context Protocol (MCP) explained - CodiLime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https://codilime.com/blog/model-context-protocol-explained/</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[4]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Prompts - Model Context Protocol（MCP）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https://modelcontextprotocol.info/docs/concepts/prompts/</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[6]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【Claude Code】カスタムSlash Commandの作り方とコマンド例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https://zenn.dev/oikon/articles/cb11b84f891228</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[7]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Claude Code でカスタムスラッシュコマンドを作成する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https://azukiazusa.dev/blog/claude-code-custom-slash-command/</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[8]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Slash commands overview | Google Antigravity Docs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https://antigravity.google/docs/slash-commands/</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[9]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Claude Code Slash Command完全ガイド2026 - Uravation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https://uravation.com/media/claude-code-slash-command-custom-extension-team-share-2026/</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[11]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Model Context Protocol (MCP) - Medium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https://medium.com/@aserdargun/model-context-protocol-mcp-e453b47cf254</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[15]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The Over-Tooled Agent Problem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https://tianpan.co/blog/2026/04/19/over-tooled-agent-problem</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[18]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Claude Code vs Codex CLI vs Antigravity CLI: 2026 Comparison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https://nektony.com/reviews/claude-code-vs-codex-cli-vs-antigravity-cli</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[19]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Claude Code vs Cursor vs OpenAI Codex vs Google Antigravity (2026)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https://www.bdtechjobs.com/blog/claude-code-vs-cursor-vs-codex-vs-antigravity</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[23]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【2026年最新】AI駆動開発ツール比較7選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https://cloud-ace.jp/column/detail558/</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[24]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DataRobot for Developers — Google Antigravity CLI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https://www.datarobot.com/blog/datarobot-for-developers-integrating-with-the-google-antigravity-cli/</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[26]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Antigravity CLI Overview | Google Antigravity Docs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https://antigravity.google/docs/cli/overview/</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[28]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Antigravity CLI Features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https://antigravity.google/docs/cli/features/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274320" cy="502920"/>
          </a:xfrm>
          <a:prstGeom prst="rect">
            <a:avLst/>
          </a:prstGeom>
          <a:noFill/>
          <a:ln/>
        </p:spPr>
        <p:txBody>
          <a:bodyPr wrap="square" lIns="0" tIns="0" rIns="0" bIns="0" rtlCol="0" anchor="ctr"/>
          <a:lstStyle/>
          <a:p>
            <a:pPr indent="0" marL="0">
              <a:buNone/>
            </a:pPr>
            <a:r>
              <a:rPr lang="en-US" sz="2600" b="1" dirty="0">
                <a:solidFill>
                  <a:srgbClr val="F2A93B"/>
                </a:solidFill>
                <a:latin typeface="Courier New" pitchFamily="34" charset="0"/>
                <a:ea typeface="Courier New" pitchFamily="34" charset="-122"/>
                <a:cs typeface="Courier New" pitchFamily="34" charset="-120"/>
              </a:rPr>
              <a:t>/</a:t>
            </a:r>
            <a:endParaRPr lang="en-US" sz="2600" dirty="0"/>
          </a:p>
        </p:txBody>
      </p:sp>
      <p:sp>
        <p:nvSpPr>
          <p:cNvPr id="3" name="Text 1"/>
          <p:cNvSpPr txBox="1"/>
          <p:nvPr/>
        </p:nvSpPr>
        <p:spPr>
          <a:xfrm>
            <a:off x="749808" y="274320"/>
            <a:ext cx="7955280" cy="502920"/>
          </a:xfrm>
          <a:prstGeom prst="rect">
            <a:avLst/>
          </a:prstGeom>
          <a:noFill/>
          <a:ln/>
        </p:spPr>
        <p:txBody>
          <a:bodyPr wrap="square" lIns="0" tIns="0" rIns="0" bIns="0" rtlCol="0" anchor="ctr"/>
          <a:lstStyle/>
          <a:p>
            <a:pPr indent="0" marL="0">
              <a:buNone/>
            </a:pPr>
            <a:r>
              <a:rPr lang="en-US" sz="2400" b="1" dirty="0">
                <a:solidFill>
                  <a:srgbClr val="1F2430"/>
                </a:solidFill>
                <a:latin typeface="Yu Gothic" pitchFamily="34" charset="0"/>
                <a:ea typeface="Yu Gothic" pitchFamily="34" charset="-122"/>
                <a:cs typeface="Yu Gothic" pitchFamily="34" charset="-120"/>
              </a:rPr>
              <a:t>参考文献（2/2）</a:t>
            </a:r>
            <a:endParaRPr lang="en-US" sz="2400" dirty="0"/>
          </a:p>
        </p:txBody>
      </p:sp>
      <p:sp>
        <p:nvSpPr>
          <p:cNvPr id="4" name="Text 2"/>
          <p:cNvSpPr txBox="1"/>
          <p:nvPr/>
        </p:nvSpPr>
        <p:spPr>
          <a:xfrm>
            <a:off x="8412480" y="4828032"/>
            <a:ext cx="274320" cy="201168"/>
          </a:xfrm>
          <a:prstGeom prst="rect">
            <a:avLst/>
          </a:prstGeom>
          <a:noFill/>
          <a:ln/>
        </p:spPr>
        <p:txBody>
          <a:bodyPr wrap="square" lIns="0" tIns="0" rIns="0" bIns="0" rtlCol="0" anchor="t"/>
          <a:lstStyle/>
          <a:p>
            <a:pPr algn="r" indent="0" marL="0">
              <a:buNone/>
            </a:pPr>
            <a:r>
              <a:rPr lang="en-US" sz="800" dirty="0">
                <a:solidFill>
                  <a:srgbClr val="5B6475"/>
                </a:solidFill>
                <a:latin typeface="Yu Gothic" pitchFamily="34" charset="0"/>
                <a:ea typeface="Yu Gothic" pitchFamily="34" charset="-122"/>
                <a:cs typeface="Yu Gothic" pitchFamily="34" charset="-120"/>
              </a:rPr>
              <a:t>30</a:t>
            </a:r>
            <a:endParaRPr lang="en-US" sz="800" dirty="0"/>
          </a:p>
        </p:txBody>
      </p:sp>
      <p:sp>
        <p:nvSpPr>
          <p:cNvPr id="5" name="Text 3"/>
          <p:cNvSpPr txBox="1"/>
          <p:nvPr/>
        </p:nvSpPr>
        <p:spPr>
          <a:xfrm>
            <a:off x="457200" y="960120"/>
            <a:ext cx="8229600" cy="3749040"/>
          </a:xfrm>
          <a:prstGeom prst="rect">
            <a:avLst/>
          </a:prstGeom>
          <a:noFill/>
          <a:ln/>
        </p:spPr>
        <p:txBody>
          <a:bodyPr wrap="square" lIns="0" tIns="0" rIns="0" bIns="0" rtlCol="0" anchor="t"/>
          <a:lstStyle/>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[29]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Window Title Command (/title) | Google Antigravity Docs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https://antigravity.google/docs/cli/commands/title/</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[30]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Voice Dictation (/voice) | Google Antigravity Docs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https://antigravity.google/docs/cli/commands/voice/</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[32]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Gemini CLI: Custom slash commands | Google Cloud Blog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https://cloud.google.com/blog/topics/developers-practitioners/gemini-cli-custom-slash-commands</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[36]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【ガイド】OpenAI発のコーディングエージェント「Codex CLI」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https://note.com/daybreak_diary/n/n754b58ed422f</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[37]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Codex CLIとは｜使い方・全コマンド一覧・exec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https://uravation.com/media/codex-cli-complete-reference-2026/</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[39]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Codex CLI Cheat Sheet &amp; Quick Reference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https://cheatsheets.zip/codex-cli</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[41]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codex-commands-cheat-sheet - GitHub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https://github.com/jqueryscript/codex-commands-cheat-sheet/blob/main/README.md</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[43]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AGENTS.md Patterns: What Actually Changes Agent Behavior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https://blakecrosley.com/blog/agents-md-patterns</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[46]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Custom instructions with AGENTS.md - ChatGPT Learn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https://learn.chatgpt.com/docs/agent-configuration/agents-md</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[50]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【実測比較】Claude Code vs Codex 料金・性能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https://www.playpark.co.jp/blog/claude-code-vs-codex-comparison</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[51]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Codex vs Claude Code vs Antigravity - Reddit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https://www.reddit.com/r/codex/comments/1s1btfx/codex_vs_claude_code_vs_antigravity_whats_your/</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[53]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Understanding Prompt Injection Risks in Claude Code - Truefoundry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https://www.truefoundry.com/blog/claude-code-prompt-injection</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[54]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Agent Security Boundaries: From Prompt Injection to Tool Misuse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https://tao-hpu.medium.com/agent-security-boundaries-from-prompt-injection-to-tool-misuse-d25b6dbaad60</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[57]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Demystifying Prompt Injection Attacks on Agentic AI Coding Editors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https://arxiv.org/html/2509.22040v2</a:t>
            </a:r>
            <a:endParaRPr lang="en-US" sz="900" dirty="0"/>
          </a:p>
          <a:p>
            <a:pPr indent="0" marL="0">
              <a:spcAft>
                <a:spcPts val="300"/>
              </a:spcAft>
              <a:buNone/>
            </a:pPr>
            <a:r>
              <a:rPr lang="en-US" sz="900" b="1" dirty="0">
                <a:solidFill>
                  <a:srgbClr val="1F2430"/>
                </a:solidFill>
                <a:latin typeface="Yu Gothic" pitchFamily="34" charset="0"/>
                <a:ea typeface="Yu Gothic" pitchFamily="34" charset="-122"/>
                <a:cs typeface="Yu Gothic" pitchFamily="34" charset="-120"/>
              </a:rPr>
              <a:t>[58] </a:t>
            </a:r>
            <a:pPr indent="0" marL="0">
              <a:spcAft>
                <a:spcPts val="300"/>
              </a:spcAft>
              <a:buNone/>
            </a:pPr>
            <a:r>
              <a:rPr lang="en-US" sz="900" dirty="0">
                <a:solidFill>
                  <a:srgbClr val="1F2430"/>
                </a:solidFill>
                <a:latin typeface="Yu Gothic" pitchFamily="34" charset="0"/>
                <a:ea typeface="Yu Gothic" pitchFamily="34" charset="-122"/>
                <a:cs typeface="Yu Gothic" pitchFamily="34" charset="-120"/>
              </a:rPr>
              <a:t>AI coding agents vulnerability: GuardFall shell injection  </a:t>
            </a:r>
            <a:pPr indent="0" marL="0">
              <a:spcAft>
                <a:spcPts val="300"/>
              </a:spcAft>
              <a:buNone/>
            </a:pPr>
            <a:r>
              <a:rPr lang="en-US" sz="900" u="sng" dirty="0">
                <a:solidFill>
                  <a:srgbClr val="3A78E8"/>
                </a:solidFill>
                <a:latin typeface="Yu Gothic" pitchFamily="34" charset="0"/>
                <a:ea typeface="Yu Gothic" pitchFamily="34" charset="-122"/>
                <a:cs typeface="Yu Gothic"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https://adversa.ai/blog/opensource-ai-coding-agents-shell-injection-vulnerability/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主要AI開発エージェントのアーキテクチャとSlash Commandsの徹底解剖</dc:title>
  <dc:subject>PptxGenJS Presentation</dc:subject>
  <dc:creator>PptxGenJS</dc:creator>
  <cp:lastModifiedBy>PptxGenJS</cp:lastModifiedBy>
  <cp:revision>1</cp:revision>
  <dcterms:created xsi:type="dcterms:W3CDTF">2026-09-26T07:42:59Z</dcterms:created>
  <dcterms:modified xsi:type="dcterms:W3CDTF">2026-09-26T07:42:59Z</dcterms:modified>
</cp:coreProperties>
</file>